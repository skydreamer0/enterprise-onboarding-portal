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1"/>
  </p:notesMasterIdLst>
  <p:handoutMasterIdLst>
    <p:handoutMasterId r:id="rId22"/>
  </p:handoutMasterIdLst>
  <p:sldIdLst>
    <p:sldId id="508" r:id="rId2"/>
    <p:sldId id="632" r:id="rId3"/>
    <p:sldId id="631" r:id="rId4"/>
    <p:sldId id="708" r:id="rId5"/>
    <p:sldId id="677" r:id="rId6"/>
    <p:sldId id="678" r:id="rId7"/>
    <p:sldId id="719" r:id="rId8"/>
    <p:sldId id="694" r:id="rId9"/>
    <p:sldId id="761" r:id="rId10"/>
    <p:sldId id="762" r:id="rId11"/>
    <p:sldId id="751" r:id="rId12"/>
    <p:sldId id="759" r:id="rId13"/>
    <p:sldId id="752" r:id="rId14"/>
    <p:sldId id="763" r:id="rId15"/>
    <p:sldId id="760" r:id="rId16"/>
    <p:sldId id="697" r:id="rId17"/>
    <p:sldId id="741" r:id="rId18"/>
    <p:sldId id="568" r:id="rId19"/>
    <p:sldId id="520" r:id="rId20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F1E496AA-241D-4DAA-BA7C-3E0380F0C2B6}">
          <p14:sldIdLst>
            <p14:sldId id="508"/>
            <p14:sldId id="632"/>
            <p14:sldId id="631"/>
            <p14:sldId id="708"/>
            <p14:sldId id="677"/>
            <p14:sldId id="678"/>
            <p14:sldId id="719"/>
            <p14:sldId id="694"/>
            <p14:sldId id="761"/>
            <p14:sldId id="762"/>
            <p14:sldId id="751"/>
            <p14:sldId id="759"/>
            <p14:sldId id="752"/>
            <p14:sldId id="763"/>
            <p14:sldId id="760"/>
            <p14:sldId id="697"/>
            <p14:sldId id="741"/>
            <p14:sldId id="568"/>
            <p14:sldId id="52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475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嘉蘭 張" initials="嘉蘭" lastIdx="2" clrIdx="0">
    <p:extLst>
      <p:ext uri="{19B8F6BF-5375-455C-9EA6-DF929625EA0E}">
        <p15:presenceInfo xmlns:p15="http://schemas.microsoft.com/office/powerpoint/2012/main" userId="678b48aef66e57cb" providerId="Windows Live"/>
      </p:ext>
    </p:extLst>
  </p:cmAuthor>
  <p:cmAuthor id="2" name=". paddy" initials=".p" lastIdx="2" clrIdx="1">
    <p:extLst>
      <p:ext uri="{19B8F6BF-5375-455C-9EA6-DF929625EA0E}">
        <p15:presenceInfo xmlns:p15="http://schemas.microsoft.com/office/powerpoint/2012/main" userId="74d93727f8dea3c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72319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67B067-21E7-4DBF-8659-B2C9894F6D3C}" v="142" dt="2026-04-01T10:22:02.8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86" autoAdjust="0"/>
    <p:restoredTop sz="96613" autoAdjust="0"/>
  </p:normalViewPr>
  <p:slideViewPr>
    <p:cSldViewPr snapToGrid="0">
      <p:cViewPr>
        <p:scale>
          <a:sx n="100" d="100"/>
          <a:sy n="100" d="100"/>
        </p:scale>
        <p:origin x="586" y="533"/>
      </p:cViewPr>
      <p:guideLst>
        <p:guide orient="horz" pos="3475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40" d="100"/>
        <a:sy n="24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2" d="100"/>
          <a:sy n="92" d="100"/>
        </p:scale>
        <p:origin x="2093" y="5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NU LNU" userId="fc69488e-14be-4cc3-ad83-2c10e49f02b5" providerId="ADAL" clId="{E33F7321-F31F-4C0F-BF85-7EE81A0EC989}"/>
    <pc:docChg chg="undo custSel addSld modSld sldOrd">
      <pc:chgData name="FNU LNU" userId="fc69488e-14be-4cc3-ad83-2c10e49f02b5" providerId="ADAL" clId="{E33F7321-F31F-4C0F-BF85-7EE81A0EC989}" dt="2026-04-01T10:22:02.813" v="1482"/>
      <pc:docMkLst>
        <pc:docMk/>
      </pc:docMkLst>
      <pc:sldChg chg="modSp mod">
        <pc:chgData name="FNU LNU" userId="fc69488e-14be-4cc3-ad83-2c10e49f02b5" providerId="ADAL" clId="{E33F7321-F31F-4C0F-BF85-7EE81A0EC989}" dt="2026-03-31T11:41:47.373" v="673" actId="20577"/>
        <pc:sldMkLst>
          <pc:docMk/>
          <pc:sldMk cId="1296505930" sldId="508"/>
        </pc:sldMkLst>
        <pc:spChg chg="mod">
          <ac:chgData name="FNU LNU" userId="fc69488e-14be-4cc3-ad83-2c10e49f02b5" providerId="ADAL" clId="{E33F7321-F31F-4C0F-BF85-7EE81A0EC989}" dt="2026-03-31T11:41:47.373" v="673" actId="20577"/>
          <ac:spMkLst>
            <pc:docMk/>
            <pc:sldMk cId="1296505930" sldId="508"/>
            <ac:spMk id="28674" creationId="{00000000-0000-0000-0000-000000000000}"/>
          </ac:spMkLst>
        </pc:spChg>
      </pc:sldChg>
      <pc:sldChg chg="modSp mod">
        <pc:chgData name="FNU LNU" userId="fc69488e-14be-4cc3-ad83-2c10e49f02b5" providerId="ADAL" clId="{E33F7321-F31F-4C0F-BF85-7EE81A0EC989}" dt="2026-04-01T10:07:02.420" v="1123"/>
        <pc:sldMkLst>
          <pc:docMk/>
          <pc:sldMk cId="1838809568" sldId="631"/>
        </pc:sldMkLst>
        <pc:spChg chg="mod">
          <ac:chgData name="FNU LNU" userId="fc69488e-14be-4cc3-ad83-2c10e49f02b5" providerId="ADAL" clId="{E33F7321-F31F-4C0F-BF85-7EE81A0EC989}" dt="2026-04-01T10:07:02.420" v="1123"/>
          <ac:spMkLst>
            <pc:docMk/>
            <pc:sldMk cId="1838809568" sldId="631"/>
            <ac:spMk id="7" creationId="{91EC7EF9-7AA0-4AE8-B37C-F02968142E98}"/>
          </ac:spMkLst>
        </pc:spChg>
        <pc:graphicFrameChg chg="mod">
          <ac:chgData name="FNU LNU" userId="fc69488e-14be-4cc3-ad83-2c10e49f02b5" providerId="ADAL" clId="{E33F7321-F31F-4C0F-BF85-7EE81A0EC989}" dt="2026-04-01T10:05:32.172" v="1117"/>
          <ac:graphicFrameMkLst>
            <pc:docMk/>
            <pc:sldMk cId="1838809568" sldId="631"/>
            <ac:graphicFrameMk id="4" creationId="{5A0B23E6-EBA0-4862-B2C4-9EF4617AEA39}"/>
          </ac:graphicFrameMkLst>
        </pc:graphicFrameChg>
      </pc:sldChg>
      <pc:sldChg chg="modSp mod">
        <pc:chgData name="FNU LNU" userId="fc69488e-14be-4cc3-ad83-2c10e49f02b5" providerId="ADAL" clId="{E33F7321-F31F-4C0F-BF85-7EE81A0EC989}" dt="2026-04-01T10:06:22.488" v="1121" actId="20577"/>
        <pc:sldMkLst>
          <pc:docMk/>
          <pc:sldMk cId="2286031663" sldId="632"/>
        </pc:sldMkLst>
        <pc:spChg chg="mod">
          <ac:chgData name="FNU LNU" userId="fc69488e-14be-4cc3-ad83-2c10e49f02b5" providerId="ADAL" clId="{E33F7321-F31F-4C0F-BF85-7EE81A0EC989}" dt="2026-04-01T10:06:22.488" v="1121" actId="20577"/>
          <ac:spMkLst>
            <pc:docMk/>
            <pc:sldMk cId="2286031663" sldId="632"/>
            <ac:spMk id="5" creationId="{E2649B05-C920-DB59-F320-4B3344DA425D}"/>
          </ac:spMkLst>
        </pc:spChg>
        <pc:graphicFrameChg chg="mod">
          <ac:chgData name="FNU LNU" userId="fc69488e-14be-4cc3-ad83-2c10e49f02b5" providerId="ADAL" clId="{E33F7321-F31F-4C0F-BF85-7EE81A0EC989}" dt="2026-04-01T10:05:23.573" v="1116"/>
          <ac:graphicFrameMkLst>
            <pc:docMk/>
            <pc:sldMk cId="2286031663" sldId="632"/>
            <ac:graphicFrameMk id="3" creationId="{80C94AEF-714D-4CE4-B31B-1F0760F8102C}"/>
          </ac:graphicFrameMkLst>
        </pc:graphicFrameChg>
      </pc:sldChg>
      <pc:sldChg chg="modSp mod">
        <pc:chgData name="FNU LNU" userId="fc69488e-14be-4cc3-ad83-2c10e49f02b5" providerId="ADAL" clId="{E33F7321-F31F-4C0F-BF85-7EE81A0EC989}" dt="2026-04-01T07:57:10.442" v="751"/>
        <pc:sldMkLst>
          <pc:docMk/>
          <pc:sldMk cId="1736008974" sldId="677"/>
        </pc:sldMkLst>
        <pc:graphicFrameChg chg="mod">
          <ac:chgData name="FNU LNU" userId="fc69488e-14be-4cc3-ad83-2c10e49f02b5" providerId="ADAL" clId="{E33F7321-F31F-4C0F-BF85-7EE81A0EC989}" dt="2026-04-01T01:46:43.955" v="679" actId="1076"/>
          <ac:graphicFrameMkLst>
            <pc:docMk/>
            <pc:sldMk cId="1736008974" sldId="677"/>
            <ac:graphicFrameMk id="2" creationId="{120124EC-B606-EB90-D2F0-DCCC72EE1FDE}"/>
          </ac:graphicFrameMkLst>
        </pc:graphicFrameChg>
        <pc:graphicFrameChg chg="mod modGraphic">
          <ac:chgData name="FNU LNU" userId="fc69488e-14be-4cc3-ad83-2c10e49f02b5" providerId="ADAL" clId="{E33F7321-F31F-4C0F-BF85-7EE81A0EC989}" dt="2026-04-01T07:57:10.442" v="751"/>
          <ac:graphicFrameMkLst>
            <pc:docMk/>
            <pc:sldMk cId="1736008974" sldId="677"/>
            <ac:graphicFrameMk id="3" creationId="{902BA4DF-DF31-47D7-89DB-E0BBED8C1F63}"/>
          </ac:graphicFrameMkLst>
        </pc:graphicFrameChg>
      </pc:sldChg>
      <pc:sldChg chg="modSp mod">
        <pc:chgData name="FNU LNU" userId="fc69488e-14be-4cc3-ad83-2c10e49f02b5" providerId="ADAL" clId="{E33F7321-F31F-4C0F-BF85-7EE81A0EC989}" dt="2026-04-01T08:36:51.569" v="895" actId="1076"/>
        <pc:sldMkLst>
          <pc:docMk/>
          <pc:sldMk cId="76214503" sldId="678"/>
        </pc:sldMkLst>
        <pc:graphicFrameChg chg="mod modGraphic">
          <ac:chgData name="FNU LNU" userId="fc69488e-14be-4cc3-ad83-2c10e49f02b5" providerId="ADAL" clId="{E33F7321-F31F-4C0F-BF85-7EE81A0EC989}" dt="2026-04-01T08:36:29.876" v="887" actId="207"/>
          <ac:graphicFrameMkLst>
            <pc:docMk/>
            <pc:sldMk cId="76214503" sldId="678"/>
            <ac:graphicFrameMk id="2" creationId="{722B700E-DF56-41AB-A36F-BFC34E4B9189}"/>
          </ac:graphicFrameMkLst>
        </pc:graphicFrameChg>
        <pc:graphicFrameChg chg="mod modGraphic">
          <ac:chgData name="FNU LNU" userId="fc69488e-14be-4cc3-ad83-2c10e49f02b5" providerId="ADAL" clId="{E33F7321-F31F-4C0F-BF85-7EE81A0EC989}" dt="2026-04-01T08:36:51.569" v="895" actId="1076"/>
          <ac:graphicFrameMkLst>
            <pc:docMk/>
            <pc:sldMk cId="76214503" sldId="678"/>
            <ac:graphicFrameMk id="3" creationId="{24E6082A-CFE8-FB94-3AE1-399353A3851D}"/>
          </ac:graphicFrameMkLst>
        </pc:graphicFrameChg>
      </pc:sldChg>
      <pc:sldChg chg="modSp mod">
        <pc:chgData name="FNU LNU" userId="fc69488e-14be-4cc3-ad83-2c10e49f02b5" providerId="ADAL" clId="{E33F7321-F31F-4C0F-BF85-7EE81A0EC989}" dt="2026-03-02T16:37:26.469" v="191" actId="20577"/>
        <pc:sldMkLst>
          <pc:docMk/>
          <pc:sldMk cId="3000826844" sldId="697"/>
        </pc:sldMkLst>
        <pc:spChg chg="mod">
          <ac:chgData name="FNU LNU" userId="fc69488e-14be-4cc3-ad83-2c10e49f02b5" providerId="ADAL" clId="{E33F7321-F31F-4C0F-BF85-7EE81A0EC989}" dt="2026-03-02T16:37:26.469" v="191" actId="20577"/>
          <ac:spMkLst>
            <pc:docMk/>
            <pc:sldMk cId="3000826844" sldId="697"/>
            <ac:spMk id="6" creationId="{4F4255B6-8C4C-46B9-A076-9F5D28187C52}"/>
          </ac:spMkLst>
        </pc:spChg>
      </pc:sldChg>
      <pc:sldChg chg="modSp mod">
        <pc:chgData name="FNU LNU" userId="fc69488e-14be-4cc3-ad83-2c10e49f02b5" providerId="ADAL" clId="{E33F7321-F31F-4C0F-BF85-7EE81A0EC989}" dt="2026-04-01T09:57:33.673" v="948" actId="20577"/>
        <pc:sldMkLst>
          <pc:docMk/>
          <pc:sldMk cId="4163481734" sldId="708"/>
        </pc:sldMkLst>
        <pc:spChg chg="mod">
          <ac:chgData name="FNU LNU" userId="fc69488e-14be-4cc3-ad83-2c10e49f02b5" providerId="ADAL" clId="{E33F7321-F31F-4C0F-BF85-7EE81A0EC989}" dt="2026-04-01T09:57:33.673" v="948" actId="20577"/>
          <ac:spMkLst>
            <pc:docMk/>
            <pc:sldMk cId="4163481734" sldId="708"/>
            <ac:spMk id="2" creationId="{7A124DB0-53A4-4609-B0A4-D2C2372C1281}"/>
          </ac:spMkLst>
        </pc:spChg>
        <pc:graphicFrameChg chg="mod modGraphic">
          <ac:chgData name="FNU LNU" userId="fc69488e-14be-4cc3-ad83-2c10e49f02b5" providerId="ADAL" clId="{E33F7321-F31F-4C0F-BF85-7EE81A0EC989}" dt="2026-04-01T09:55:58.930" v="906"/>
          <ac:graphicFrameMkLst>
            <pc:docMk/>
            <pc:sldMk cId="4163481734" sldId="708"/>
            <ac:graphicFrameMk id="6" creationId="{8E93FEFA-334C-4124-81F1-E757D5CF0331}"/>
          </ac:graphicFrameMkLst>
        </pc:graphicFrameChg>
      </pc:sldChg>
      <pc:sldChg chg="modSp mod">
        <pc:chgData name="FNU LNU" userId="fc69488e-14be-4cc3-ad83-2c10e49f02b5" providerId="ADAL" clId="{E33F7321-F31F-4C0F-BF85-7EE81A0EC989}" dt="2026-04-01T08:41:00.789" v="899"/>
        <pc:sldMkLst>
          <pc:docMk/>
          <pc:sldMk cId="4291932856" sldId="719"/>
        </pc:sldMkLst>
        <pc:spChg chg="mod">
          <ac:chgData name="FNU LNU" userId="fc69488e-14be-4cc3-ad83-2c10e49f02b5" providerId="ADAL" clId="{E33F7321-F31F-4C0F-BF85-7EE81A0EC989}" dt="2026-03-02T16:46:42.344" v="322" actId="20577"/>
          <ac:spMkLst>
            <pc:docMk/>
            <pc:sldMk cId="4291932856" sldId="719"/>
            <ac:spMk id="8" creationId="{1228BE75-2F3B-4D1B-ACB3-76A708A3B9DF}"/>
          </ac:spMkLst>
        </pc:spChg>
        <pc:graphicFrameChg chg="mod modGraphic">
          <ac:chgData name="FNU LNU" userId="fc69488e-14be-4cc3-ad83-2c10e49f02b5" providerId="ADAL" clId="{E33F7321-F31F-4C0F-BF85-7EE81A0EC989}" dt="2026-04-01T08:37:08.687" v="896" actId="1076"/>
          <ac:graphicFrameMkLst>
            <pc:docMk/>
            <pc:sldMk cId="4291932856" sldId="719"/>
            <ac:graphicFrameMk id="2" creationId="{00000000-0000-0000-0000-000000000000}"/>
          </ac:graphicFrameMkLst>
        </pc:graphicFrameChg>
        <pc:graphicFrameChg chg="mod modGraphic">
          <ac:chgData name="FNU LNU" userId="fc69488e-14be-4cc3-ad83-2c10e49f02b5" providerId="ADAL" clId="{E33F7321-F31F-4C0F-BF85-7EE81A0EC989}" dt="2026-04-01T08:41:00.789" v="899"/>
          <ac:graphicFrameMkLst>
            <pc:docMk/>
            <pc:sldMk cId="4291932856" sldId="719"/>
            <ac:graphicFrameMk id="5" creationId="{A50EADA4-DC7D-4FC9-A58A-27EEFB76720B}"/>
          </ac:graphicFrameMkLst>
        </pc:graphicFrameChg>
      </pc:sldChg>
      <pc:sldChg chg="modSp mod">
        <pc:chgData name="FNU LNU" userId="fc69488e-14be-4cc3-ad83-2c10e49f02b5" providerId="ADAL" clId="{E33F7321-F31F-4C0F-BF85-7EE81A0EC989}" dt="2026-04-01T10:22:02.813" v="1482"/>
        <pc:sldMkLst>
          <pc:docMk/>
          <pc:sldMk cId="3785460806" sldId="741"/>
        </pc:sldMkLst>
        <pc:spChg chg="mod">
          <ac:chgData name="FNU LNU" userId="fc69488e-14be-4cc3-ad83-2c10e49f02b5" providerId="ADAL" clId="{E33F7321-F31F-4C0F-BF85-7EE81A0EC989}" dt="2026-03-02T16:43:57.813" v="280" actId="404"/>
          <ac:spMkLst>
            <pc:docMk/>
            <pc:sldMk cId="3785460806" sldId="741"/>
            <ac:spMk id="4" creationId="{00000000-0000-0000-0000-000000000000}"/>
          </ac:spMkLst>
        </pc:spChg>
        <pc:graphicFrameChg chg="mod modGraphic">
          <ac:chgData name="FNU LNU" userId="fc69488e-14be-4cc3-ad83-2c10e49f02b5" providerId="ADAL" clId="{E33F7321-F31F-4C0F-BF85-7EE81A0EC989}" dt="2026-04-01T10:22:02.813" v="1482"/>
          <ac:graphicFrameMkLst>
            <pc:docMk/>
            <pc:sldMk cId="3785460806" sldId="741"/>
            <ac:graphicFrameMk id="3" creationId="{4738B04E-1FDC-4221-A8CE-10252495610C}"/>
          </ac:graphicFrameMkLst>
        </pc:graphicFrameChg>
      </pc:sldChg>
      <pc:sldChg chg="modSp mod">
        <pc:chgData name="FNU LNU" userId="fc69488e-14be-4cc3-ad83-2c10e49f02b5" providerId="ADAL" clId="{E33F7321-F31F-4C0F-BF85-7EE81A0EC989}" dt="2026-04-01T08:46:27.900" v="904" actId="20577"/>
        <pc:sldMkLst>
          <pc:docMk/>
          <pc:sldMk cId="1222236216" sldId="751"/>
        </pc:sldMkLst>
        <pc:spChg chg="mod">
          <ac:chgData name="FNU LNU" userId="fc69488e-14be-4cc3-ad83-2c10e49f02b5" providerId="ADAL" clId="{E33F7321-F31F-4C0F-BF85-7EE81A0EC989}" dt="2026-04-01T08:46:27.900" v="904" actId="20577"/>
          <ac:spMkLst>
            <pc:docMk/>
            <pc:sldMk cId="1222236216" sldId="751"/>
            <ac:spMk id="8" creationId="{1228BE75-2F3B-4D1B-ACB3-76A708A3B9DF}"/>
          </ac:spMkLst>
        </pc:spChg>
        <pc:graphicFrameChg chg="mod modGraphic">
          <ac:chgData name="FNU LNU" userId="fc69488e-14be-4cc3-ad83-2c10e49f02b5" providerId="ADAL" clId="{E33F7321-F31F-4C0F-BF85-7EE81A0EC989}" dt="2026-04-01T01:49:05.284" v="689" actId="207"/>
          <ac:graphicFrameMkLst>
            <pc:docMk/>
            <pc:sldMk cId="1222236216" sldId="751"/>
            <ac:graphicFrameMk id="3" creationId="{CD394978-3413-4A28-A619-C64E7FDB2686}"/>
          </ac:graphicFrameMkLst>
        </pc:graphicFrameChg>
      </pc:sldChg>
      <pc:sldChg chg="delSp modSp mod">
        <pc:chgData name="FNU LNU" userId="fc69488e-14be-4cc3-ad83-2c10e49f02b5" providerId="ADAL" clId="{E33F7321-F31F-4C0F-BF85-7EE81A0EC989}" dt="2026-04-01T08:46:12.089" v="903" actId="478"/>
        <pc:sldMkLst>
          <pc:docMk/>
          <pc:sldMk cId="510258565" sldId="752"/>
        </pc:sldMkLst>
        <pc:graphicFrameChg chg="mod modGraphic">
          <ac:chgData name="FNU LNU" userId="fc69488e-14be-4cc3-ad83-2c10e49f02b5" providerId="ADAL" clId="{E33F7321-F31F-4C0F-BF85-7EE81A0EC989}" dt="2026-04-01T08:45:25.699" v="901" actId="207"/>
          <ac:graphicFrameMkLst>
            <pc:docMk/>
            <pc:sldMk cId="510258565" sldId="752"/>
            <ac:graphicFrameMk id="5" creationId="{F7263B26-709A-5F5C-8FDA-E642A06704BC}"/>
          </ac:graphicFrameMkLst>
        </pc:graphicFrameChg>
        <pc:graphicFrameChg chg="del modGraphic">
          <ac:chgData name="FNU LNU" userId="fc69488e-14be-4cc3-ad83-2c10e49f02b5" providerId="ADAL" clId="{E33F7321-F31F-4C0F-BF85-7EE81A0EC989}" dt="2026-04-01T08:46:12.089" v="903" actId="478"/>
          <ac:graphicFrameMkLst>
            <pc:docMk/>
            <pc:sldMk cId="510258565" sldId="752"/>
            <ac:graphicFrameMk id="6" creationId="{EE7E36B8-F833-43EE-B4CA-8D7CDFFCCA13}"/>
          </ac:graphicFrameMkLst>
        </pc:graphicFrameChg>
      </pc:sldChg>
      <pc:sldChg chg="delSp modSp mod">
        <pc:chgData name="FNU LNU" userId="fc69488e-14be-4cc3-ad83-2c10e49f02b5" providerId="ADAL" clId="{E33F7321-F31F-4C0F-BF85-7EE81A0EC989}" dt="2026-04-01T10:19:35.247" v="1479" actId="478"/>
        <pc:sldMkLst>
          <pc:docMk/>
          <pc:sldMk cId="521509233" sldId="759"/>
        </pc:sldMkLst>
        <pc:graphicFrameChg chg="del modGraphic">
          <ac:chgData name="FNU LNU" userId="fc69488e-14be-4cc3-ad83-2c10e49f02b5" providerId="ADAL" clId="{E33F7321-F31F-4C0F-BF85-7EE81A0EC989}" dt="2026-04-01T10:19:35.247" v="1479" actId="478"/>
          <ac:graphicFrameMkLst>
            <pc:docMk/>
            <pc:sldMk cId="521509233" sldId="759"/>
            <ac:graphicFrameMk id="2" creationId="{098B4B27-913C-DBCB-9664-7CF0A0361B2F}"/>
          </ac:graphicFrameMkLst>
        </pc:graphicFrameChg>
        <pc:graphicFrameChg chg="mod modGraphic">
          <ac:chgData name="FNU LNU" userId="fc69488e-14be-4cc3-ad83-2c10e49f02b5" providerId="ADAL" clId="{E33F7321-F31F-4C0F-BF85-7EE81A0EC989}" dt="2026-04-01T01:47:50.852" v="683"/>
          <ac:graphicFrameMkLst>
            <pc:docMk/>
            <pc:sldMk cId="521509233" sldId="759"/>
            <ac:graphicFrameMk id="5" creationId="{8CBA7337-E66F-47FD-9D85-AF6F03AB7413}"/>
          </ac:graphicFrameMkLst>
        </pc:graphicFrameChg>
      </pc:sldChg>
      <pc:sldChg chg="modSp mod">
        <pc:chgData name="FNU LNU" userId="fc69488e-14be-4cc3-ad83-2c10e49f02b5" providerId="ADAL" clId="{E33F7321-F31F-4C0F-BF85-7EE81A0EC989}" dt="2026-03-02T16:40:50.613" v="276" actId="207"/>
        <pc:sldMkLst>
          <pc:docMk/>
          <pc:sldMk cId="1166786735" sldId="760"/>
        </pc:sldMkLst>
        <pc:spChg chg="mod">
          <ac:chgData name="FNU LNU" userId="fc69488e-14be-4cc3-ad83-2c10e49f02b5" providerId="ADAL" clId="{E33F7321-F31F-4C0F-BF85-7EE81A0EC989}" dt="2026-03-02T16:37:10.410" v="186" actId="20577"/>
          <ac:spMkLst>
            <pc:docMk/>
            <pc:sldMk cId="1166786735" sldId="760"/>
            <ac:spMk id="32770" creationId="{00000000-0000-0000-0000-000000000000}"/>
          </ac:spMkLst>
        </pc:spChg>
        <pc:graphicFrameChg chg="mod modGraphic">
          <ac:chgData name="FNU LNU" userId="fc69488e-14be-4cc3-ad83-2c10e49f02b5" providerId="ADAL" clId="{E33F7321-F31F-4C0F-BF85-7EE81A0EC989}" dt="2026-03-02T16:40:50.613" v="276" actId="207"/>
          <ac:graphicFrameMkLst>
            <pc:docMk/>
            <pc:sldMk cId="1166786735" sldId="760"/>
            <ac:graphicFrameMk id="2" creationId="{0A8685A5-BB6C-B7E2-1622-4A15A9126144}"/>
          </ac:graphicFrameMkLst>
        </pc:graphicFrameChg>
      </pc:sldChg>
      <pc:sldChg chg="modSp mod">
        <pc:chgData name="FNU LNU" userId="fc69488e-14be-4cc3-ad83-2c10e49f02b5" providerId="ADAL" clId="{E33F7321-F31F-4C0F-BF85-7EE81A0EC989}" dt="2026-04-01T10:19:14.079" v="1477" actId="108"/>
        <pc:sldMkLst>
          <pc:docMk/>
          <pc:sldMk cId="791301494" sldId="761"/>
        </pc:sldMkLst>
        <pc:graphicFrameChg chg="mod modGraphic">
          <ac:chgData name="FNU LNU" userId="fc69488e-14be-4cc3-ad83-2c10e49f02b5" providerId="ADAL" clId="{E33F7321-F31F-4C0F-BF85-7EE81A0EC989}" dt="2026-04-01T10:19:14.079" v="1477" actId="108"/>
          <ac:graphicFrameMkLst>
            <pc:docMk/>
            <pc:sldMk cId="791301494" sldId="761"/>
            <ac:graphicFrameMk id="5" creationId="{7B7358B0-BFB6-DE1E-87F9-FC63D11F97E9}"/>
          </ac:graphicFrameMkLst>
        </pc:graphicFrameChg>
      </pc:sldChg>
      <pc:sldChg chg="modSp mod">
        <pc:chgData name="FNU LNU" userId="fc69488e-14be-4cc3-ad83-2c10e49f02b5" providerId="ADAL" clId="{E33F7321-F31F-4C0F-BF85-7EE81A0EC989}" dt="2026-03-02T16:46:07.223" v="316" actId="207"/>
        <pc:sldMkLst>
          <pc:docMk/>
          <pc:sldMk cId="1936621744" sldId="762"/>
        </pc:sldMkLst>
        <pc:graphicFrameChg chg="modGraphic">
          <ac:chgData name="FNU LNU" userId="fc69488e-14be-4cc3-ad83-2c10e49f02b5" providerId="ADAL" clId="{E33F7321-F31F-4C0F-BF85-7EE81A0EC989}" dt="2026-03-02T16:46:07.223" v="316" actId="207"/>
          <ac:graphicFrameMkLst>
            <pc:docMk/>
            <pc:sldMk cId="1936621744" sldId="762"/>
            <ac:graphicFrameMk id="5" creationId="{28411B11-12D2-F518-7166-1B5EE0780C48}"/>
          </ac:graphicFrameMkLst>
        </pc:graphicFrameChg>
      </pc:sldChg>
      <pc:sldChg chg="addSp delSp modSp add mod ord">
        <pc:chgData name="FNU LNU" userId="fc69488e-14be-4cc3-ad83-2c10e49f02b5" providerId="ADAL" clId="{E33F7321-F31F-4C0F-BF85-7EE81A0EC989}" dt="2026-04-01T08:45:40.336" v="902" actId="207"/>
        <pc:sldMkLst>
          <pc:docMk/>
          <pc:sldMk cId="3420736017" sldId="763"/>
        </pc:sldMkLst>
        <pc:spChg chg="mod">
          <ac:chgData name="FNU LNU" userId="fc69488e-14be-4cc3-ad83-2c10e49f02b5" providerId="ADAL" clId="{E33F7321-F31F-4C0F-BF85-7EE81A0EC989}" dt="2026-03-02T16:37:41.926" v="199" actId="20577"/>
          <ac:spMkLst>
            <pc:docMk/>
            <pc:sldMk cId="3420736017" sldId="763"/>
            <ac:spMk id="8" creationId="{8A2A6F11-4F7E-279A-1EF9-5D63CA3471DF}"/>
          </ac:spMkLst>
        </pc:spChg>
        <pc:graphicFrameChg chg="add mod modGraphic">
          <ac:chgData name="FNU LNU" userId="fc69488e-14be-4cc3-ad83-2c10e49f02b5" providerId="ADAL" clId="{E33F7321-F31F-4C0F-BF85-7EE81A0EC989}" dt="2026-04-01T01:48:14.037" v="687"/>
          <ac:graphicFrameMkLst>
            <pc:docMk/>
            <pc:sldMk cId="3420736017" sldId="763"/>
            <ac:graphicFrameMk id="2" creationId="{D5E6692E-3683-A701-5788-659A727CB442}"/>
          </ac:graphicFrameMkLst>
        </pc:graphicFrameChg>
        <pc:graphicFrameChg chg="add mod modGraphic">
          <ac:chgData name="FNU LNU" userId="fc69488e-14be-4cc3-ad83-2c10e49f02b5" providerId="ADAL" clId="{E33F7321-F31F-4C0F-BF85-7EE81A0EC989}" dt="2026-04-01T08:45:40.336" v="902" actId="207"/>
          <ac:graphicFrameMkLst>
            <pc:docMk/>
            <pc:sldMk cId="3420736017" sldId="763"/>
            <ac:graphicFrameMk id="3" creationId="{95B1FBC6-7447-D8CC-63D0-CD6D8286F783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14BB16-2F6C-4DCD-AB18-6C74992648C5}" type="datetimeFigureOut">
              <a:rPr lang="zh-TW" altLang="en-US" smtClean="0"/>
              <a:pPr/>
              <a:t>2026/5/2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B646E8-5C11-4BC9-905E-AE03B1F0527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1562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96F93A-EA49-4DC9-8140-FFD5E3232150}" type="datetimeFigureOut">
              <a:rPr lang="zh-TW" altLang="en-US" smtClean="0"/>
              <a:pPr/>
              <a:t>2026/5/2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3D3D7D-AB5E-43B9-BF37-078E8FE6D53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5907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3D3D7D-AB5E-43B9-BF37-078E8FE6D531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69897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ERM,FCS,GDM,KPT,AMD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增加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79W</a:t>
            </a:r>
            <a:endParaRPr lang="zh-TW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3D3D7D-AB5E-43B9-BF37-078E8FE6D531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81279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sz="1200" b="0" u="none" dirty="0">
              <a:cs typeface="Arial" panose="020B0604020202020204" pitchFamily="34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3D3D7D-AB5E-43B9-BF37-078E8FE6D531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97106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baseline="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EB29CE-A4C0-4DE1-89A7-0033D49C05C7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29597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後續規劃效果</a:t>
            </a:r>
            <a:endParaRPr lang="en-US" altLang="zh-TW" dirty="0"/>
          </a:p>
          <a:p>
            <a:r>
              <a:rPr lang="zh-TW" altLang="en-US" dirty="0"/>
              <a:t>簡短一些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EB29CE-A4C0-4DE1-89A7-0033D49C05C7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65568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EB29CE-A4C0-4DE1-89A7-0033D49C05C7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31152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慈濟安庫</a:t>
            </a:r>
            <a:r>
              <a:rPr lang="en-US" altLang="zh-TW" dirty="0"/>
              <a:t>21</a:t>
            </a:r>
            <a:r>
              <a:rPr lang="zh-TW" altLang="en-US" dirty="0"/>
              <a:t>支（原</a:t>
            </a:r>
            <a:r>
              <a:rPr lang="en-US" altLang="zh-TW" dirty="0"/>
              <a:t>25</a:t>
            </a:r>
            <a:r>
              <a:rPr lang="zh-TW" altLang="en-US" dirty="0"/>
              <a:t>支</a:t>
            </a:r>
            <a:r>
              <a:rPr lang="en-US" altLang="zh-TW" dirty="0"/>
              <a:t>)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EB29CE-A4C0-4DE1-89A7-0033D49C05C7}" type="slidenum">
              <a:rPr lang="zh-TW" altLang="en-US" smtClean="0">
                <a:solidFill>
                  <a:prstClr val="black"/>
                </a:solidFill>
              </a:rPr>
              <a:pPr/>
              <a:t>7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40897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kumimoji="1" lang="zh-TW" altLang="en-US" dirty="0">
                <a:solidFill>
                  <a:srgbClr val="FF0000"/>
                </a:solidFill>
              </a:rPr>
              <a:t>影響業績</a:t>
            </a:r>
            <a:endParaRPr kumimoji="1" lang="en-US" altLang="zh-TW" dirty="0">
              <a:solidFill>
                <a:srgbClr val="FF0000"/>
              </a:solidFill>
            </a:endParaRPr>
          </a:p>
          <a:p>
            <a:pPr algn="l"/>
            <a:r>
              <a:rPr kumimoji="1" lang="zh-TW" altLang="en-US" dirty="0">
                <a:solidFill>
                  <a:srgbClr val="FF0000"/>
                </a:solidFill>
              </a:rPr>
              <a:t>表相結果</a:t>
            </a:r>
            <a:endParaRPr kumimoji="1" lang="en-US" altLang="zh-TW" dirty="0">
              <a:solidFill>
                <a:srgbClr val="FF0000"/>
              </a:solidFill>
            </a:endParaRPr>
          </a:p>
          <a:p>
            <a:pPr algn="l"/>
            <a:r>
              <a:rPr kumimoji="1" lang="zh-TW" altLang="en-US" dirty="0">
                <a:solidFill>
                  <a:srgbClr val="FF0000"/>
                </a:solidFill>
              </a:rPr>
              <a:t>醫師用量減少是結果</a:t>
            </a:r>
            <a:endParaRPr kumimoji="1" lang="en-US" altLang="zh-TW" dirty="0">
              <a:solidFill>
                <a:srgbClr val="FF0000"/>
              </a:solidFill>
            </a:endParaRPr>
          </a:p>
          <a:p>
            <a:pPr algn="l"/>
            <a:r>
              <a:rPr kumimoji="1" lang="zh-TW" altLang="en-US" dirty="0">
                <a:solidFill>
                  <a:srgbClr val="FF0000"/>
                </a:solidFill>
              </a:rPr>
              <a:t>要去找出背後得原因</a:t>
            </a:r>
            <a:endParaRPr kumimoji="1" lang="en-US" altLang="zh-TW" dirty="0">
              <a:solidFill>
                <a:srgbClr val="FF0000"/>
              </a:solidFill>
            </a:endParaRPr>
          </a:p>
          <a:p>
            <a:pPr algn="l"/>
            <a:endParaRPr kumimoji="1" lang="en-US" altLang="zh-TW" dirty="0">
              <a:solidFill>
                <a:srgbClr val="FF0000"/>
              </a:solidFill>
            </a:endParaRPr>
          </a:p>
          <a:p>
            <a:pPr algn="l"/>
            <a:r>
              <a:rPr kumimoji="1" lang="zh-TW" altLang="en-US" dirty="0">
                <a:solidFill>
                  <a:srgbClr val="FF0000"/>
                </a:solidFill>
              </a:rPr>
              <a:t>為啥會影響到業績</a:t>
            </a:r>
            <a:endParaRPr kumimoji="1" lang="en-US" altLang="zh-TW" dirty="0">
              <a:solidFill>
                <a:srgbClr val="FF0000"/>
              </a:solidFill>
            </a:endParaRPr>
          </a:p>
          <a:p>
            <a:pPr algn="l"/>
            <a:r>
              <a:rPr kumimoji="1" lang="zh-TW" altLang="en-US" dirty="0">
                <a:solidFill>
                  <a:srgbClr val="FF0000"/>
                </a:solidFill>
              </a:rPr>
              <a:t>找到原因後多方確定後運用他去提書</a:t>
            </a:r>
            <a:r>
              <a:rPr kumimoji="1" lang="en-US" altLang="zh-TW" dirty="0">
                <a:solidFill>
                  <a:srgbClr val="FF0000"/>
                </a:solidFill>
              </a:rPr>
              <a:t>action plain </a:t>
            </a:r>
          </a:p>
          <a:p>
            <a:pPr algn="l"/>
            <a:endParaRPr kumimoji="1" lang="en-US" altLang="zh-TW" dirty="0">
              <a:solidFill>
                <a:srgbClr val="FF0000"/>
              </a:solidFill>
            </a:endParaRPr>
          </a:p>
          <a:p>
            <a:pPr algn="l"/>
            <a:r>
              <a:rPr kumimoji="1" lang="en-US" altLang="zh-TW" dirty="0" err="1">
                <a:solidFill>
                  <a:srgbClr val="FF0000"/>
                </a:solidFill>
              </a:rPr>
              <a:t>Bemiga</a:t>
            </a:r>
            <a:endParaRPr kumimoji="1" lang="en-US" altLang="zh-TW" dirty="0">
              <a:solidFill>
                <a:srgbClr val="FF0000"/>
              </a:solidFill>
            </a:endParaRPr>
          </a:p>
          <a:p>
            <a:pPr algn="l"/>
            <a:endParaRPr kumimoji="1" lang="en-US" altLang="zh-TW" dirty="0">
              <a:solidFill>
                <a:srgbClr val="FF0000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0FDA659-EF94-452C-9DAD-188FCD45EB28}" type="slidenum">
              <a:rPr lang="en-GB" altLang="zh-TW" smtClean="0"/>
              <a:pPr>
                <a:defRPr/>
              </a:pPr>
              <a:t>8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6316390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7FAC4-BA2E-80FD-E7C0-C250FA04C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0F3F626-D66B-D54F-E385-3524AC89DC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38116C0-F83F-9C5D-1F35-6FA105CA17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kumimoji="1" lang="zh-TW" altLang="en-US" dirty="0">
                <a:solidFill>
                  <a:srgbClr val="FF0000"/>
                </a:solidFill>
              </a:rPr>
              <a:t>影響業績</a:t>
            </a:r>
            <a:endParaRPr kumimoji="1" lang="en-US" altLang="zh-TW" dirty="0">
              <a:solidFill>
                <a:srgbClr val="FF0000"/>
              </a:solidFill>
            </a:endParaRPr>
          </a:p>
          <a:p>
            <a:pPr algn="l"/>
            <a:r>
              <a:rPr kumimoji="1" lang="zh-TW" altLang="en-US" dirty="0">
                <a:solidFill>
                  <a:srgbClr val="FF0000"/>
                </a:solidFill>
              </a:rPr>
              <a:t>表相結果</a:t>
            </a:r>
            <a:endParaRPr kumimoji="1" lang="en-US" altLang="zh-TW" dirty="0">
              <a:solidFill>
                <a:srgbClr val="FF0000"/>
              </a:solidFill>
            </a:endParaRPr>
          </a:p>
          <a:p>
            <a:pPr algn="l"/>
            <a:r>
              <a:rPr kumimoji="1" lang="zh-TW" altLang="en-US" dirty="0">
                <a:solidFill>
                  <a:srgbClr val="FF0000"/>
                </a:solidFill>
              </a:rPr>
              <a:t>醫師用量減少是結果</a:t>
            </a:r>
            <a:endParaRPr kumimoji="1" lang="en-US" altLang="zh-TW" dirty="0">
              <a:solidFill>
                <a:srgbClr val="FF0000"/>
              </a:solidFill>
            </a:endParaRPr>
          </a:p>
          <a:p>
            <a:pPr algn="l"/>
            <a:r>
              <a:rPr kumimoji="1" lang="zh-TW" altLang="en-US" dirty="0">
                <a:solidFill>
                  <a:srgbClr val="FF0000"/>
                </a:solidFill>
              </a:rPr>
              <a:t>要去找出背後得原因</a:t>
            </a:r>
            <a:endParaRPr kumimoji="1" lang="en-US" altLang="zh-TW" dirty="0">
              <a:solidFill>
                <a:srgbClr val="FF0000"/>
              </a:solidFill>
            </a:endParaRPr>
          </a:p>
          <a:p>
            <a:pPr algn="l"/>
            <a:endParaRPr kumimoji="1" lang="en-US" altLang="zh-TW" dirty="0">
              <a:solidFill>
                <a:srgbClr val="FF0000"/>
              </a:solidFill>
            </a:endParaRPr>
          </a:p>
          <a:p>
            <a:pPr algn="l"/>
            <a:r>
              <a:rPr kumimoji="1" lang="zh-TW" altLang="en-US" dirty="0">
                <a:solidFill>
                  <a:srgbClr val="FF0000"/>
                </a:solidFill>
              </a:rPr>
              <a:t>為啥會影響到業績</a:t>
            </a:r>
            <a:endParaRPr kumimoji="1" lang="en-US" altLang="zh-TW" dirty="0">
              <a:solidFill>
                <a:srgbClr val="FF0000"/>
              </a:solidFill>
            </a:endParaRPr>
          </a:p>
          <a:p>
            <a:pPr algn="l"/>
            <a:r>
              <a:rPr kumimoji="1" lang="zh-TW" altLang="en-US" dirty="0">
                <a:solidFill>
                  <a:srgbClr val="FF0000"/>
                </a:solidFill>
              </a:rPr>
              <a:t>找到原因後多方確定後運用他去提書</a:t>
            </a:r>
            <a:r>
              <a:rPr kumimoji="1" lang="en-US" altLang="zh-TW" dirty="0">
                <a:solidFill>
                  <a:srgbClr val="FF0000"/>
                </a:solidFill>
              </a:rPr>
              <a:t>action plain </a:t>
            </a:r>
          </a:p>
          <a:p>
            <a:pPr algn="l"/>
            <a:endParaRPr kumimoji="1" lang="en-US" altLang="zh-TW" dirty="0">
              <a:solidFill>
                <a:srgbClr val="FF0000"/>
              </a:solidFill>
            </a:endParaRPr>
          </a:p>
          <a:p>
            <a:pPr algn="l"/>
            <a:r>
              <a:rPr kumimoji="1" lang="en-US" altLang="zh-TW" dirty="0" err="1">
                <a:solidFill>
                  <a:srgbClr val="FF0000"/>
                </a:solidFill>
              </a:rPr>
              <a:t>Bemiga</a:t>
            </a:r>
            <a:endParaRPr kumimoji="1" lang="en-US" altLang="zh-TW" dirty="0">
              <a:solidFill>
                <a:srgbClr val="FF0000"/>
              </a:solidFill>
            </a:endParaRPr>
          </a:p>
          <a:p>
            <a:pPr algn="l"/>
            <a:endParaRPr kumimoji="1" lang="en-US" altLang="zh-TW" dirty="0">
              <a:solidFill>
                <a:srgbClr val="FF0000"/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E50A034-38F2-6EB3-674A-E47AC63932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0FDA659-EF94-452C-9DAD-188FCD45EB28}" type="slidenum">
              <a:rPr lang="en-GB" altLang="zh-TW" smtClean="0"/>
              <a:pPr>
                <a:defRPr/>
              </a:pPr>
              <a:t>9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3716066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818C0-40B7-585B-AC95-47C8D3F14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443ADDB-3114-4EF9-05B5-4D74A33D29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363FCD8-76F6-8662-ED86-2EAF8563DA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kumimoji="1" lang="zh-TW" altLang="en-US" dirty="0">
                <a:solidFill>
                  <a:srgbClr val="FF0000"/>
                </a:solidFill>
              </a:rPr>
              <a:t>影響業績</a:t>
            </a:r>
            <a:endParaRPr kumimoji="1" lang="en-US" altLang="zh-TW" dirty="0">
              <a:solidFill>
                <a:srgbClr val="FF0000"/>
              </a:solidFill>
            </a:endParaRPr>
          </a:p>
          <a:p>
            <a:pPr algn="l"/>
            <a:r>
              <a:rPr kumimoji="1" lang="zh-TW" altLang="en-US" dirty="0">
                <a:solidFill>
                  <a:srgbClr val="FF0000"/>
                </a:solidFill>
              </a:rPr>
              <a:t>表相結果</a:t>
            </a:r>
            <a:endParaRPr kumimoji="1" lang="en-US" altLang="zh-TW" dirty="0">
              <a:solidFill>
                <a:srgbClr val="FF0000"/>
              </a:solidFill>
            </a:endParaRPr>
          </a:p>
          <a:p>
            <a:pPr algn="l"/>
            <a:r>
              <a:rPr kumimoji="1" lang="zh-TW" altLang="en-US" dirty="0">
                <a:solidFill>
                  <a:srgbClr val="FF0000"/>
                </a:solidFill>
              </a:rPr>
              <a:t>醫師用量減少是結果</a:t>
            </a:r>
            <a:endParaRPr kumimoji="1" lang="en-US" altLang="zh-TW" dirty="0">
              <a:solidFill>
                <a:srgbClr val="FF0000"/>
              </a:solidFill>
            </a:endParaRPr>
          </a:p>
          <a:p>
            <a:pPr algn="l"/>
            <a:r>
              <a:rPr kumimoji="1" lang="zh-TW" altLang="en-US" dirty="0">
                <a:solidFill>
                  <a:srgbClr val="FF0000"/>
                </a:solidFill>
              </a:rPr>
              <a:t>要去找出背後得原因</a:t>
            </a:r>
            <a:endParaRPr kumimoji="1" lang="en-US" altLang="zh-TW" dirty="0">
              <a:solidFill>
                <a:srgbClr val="FF0000"/>
              </a:solidFill>
            </a:endParaRPr>
          </a:p>
          <a:p>
            <a:pPr algn="l"/>
            <a:endParaRPr kumimoji="1" lang="en-US" altLang="zh-TW" dirty="0">
              <a:solidFill>
                <a:srgbClr val="FF0000"/>
              </a:solidFill>
            </a:endParaRPr>
          </a:p>
          <a:p>
            <a:pPr algn="l"/>
            <a:r>
              <a:rPr kumimoji="1" lang="zh-TW" altLang="en-US" dirty="0">
                <a:solidFill>
                  <a:srgbClr val="FF0000"/>
                </a:solidFill>
              </a:rPr>
              <a:t>為啥會影響到業績</a:t>
            </a:r>
            <a:endParaRPr kumimoji="1" lang="en-US" altLang="zh-TW" dirty="0">
              <a:solidFill>
                <a:srgbClr val="FF0000"/>
              </a:solidFill>
            </a:endParaRPr>
          </a:p>
          <a:p>
            <a:pPr algn="l"/>
            <a:r>
              <a:rPr kumimoji="1" lang="zh-TW" altLang="en-US" dirty="0">
                <a:solidFill>
                  <a:srgbClr val="FF0000"/>
                </a:solidFill>
              </a:rPr>
              <a:t>找到原因後多方確定後運用他去提書</a:t>
            </a:r>
            <a:r>
              <a:rPr kumimoji="1" lang="en-US" altLang="zh-TW" dirty="0">
                <a:solidFill>
                  <a:srgbClr val="FF0000"/>
                </a:solidFill>
              </a:rPr>
              <a:t>action plain </a:t>
            </a:r>
          </a:p>
          <a:p>
            <a:pPr algn="l"/>
            <a:endParaRPr kumimoji="1" lang="en-US" altLang="zh-TW" dirty="0">
              <a:solidFill>
                <a:srgbClr val="FF0000"/>
              </a:solidFill>
            </a:endParaRPr>
          </a:p>
          <a:p>
            <a:pPr algn="l"/>
            <a:r>
              <a:rPr kumimoji="1" lang="en-US" altLang="zh-TW" dirty="0" err="1">
                <a:solidFill>
                  <a:srgbClr val="FF0000"/>
                </a:solidFill>
              </a:rPr>
              <a:t>Bemiga</a:t>
            </a:r>
            <a:endParaRPr kumimoji="1" lang="en-US" altLang="zh-TW" dirty="0">
              <a:solidFill>
                <a:srgbClr val="FF0000"/>
              </a:solidFill>
            </a:endParaRPr>
          </a:p>
          <a:p>
            <a:pPr algn="l"/>
            <a:endParaRPr kumimoji="1" lang="en-US" altLang="zh-TW" dirty="0">
              <a:solidFill>
                <a:srgbClr val="FF0000"/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BF7ACF-0D30-C906-9ACE-4AA75210D7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0FDA659-EF94-452C-9DAD-188FCD45EB28}" type="slidenum">
              <a:rPr lang="en-GB" altLang="zh-TW" smtClean="0"/>
              <a:pPr>
                <a:defRPr/>
              </a:pPr>
              <a:t>10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34361929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b="1" i="0">
              <a:effectLst/>
              <a:latin typeface="var( --e-global-typography-primary-font-family )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EB29CE-A4C0-4DE1-89A7-0033D49C05C7}" type="slidenum">
              <a:rPr lang="zh-TW" altLang="en-US" smtClean="0">
                <a:solidFill>
                  <a:prstClr val="black"/>
                </a:solidFill>
              </a:rPr>
              <a:pPr/>
              <a:t>11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12183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b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EB29CE-A4C0-4DE1-89A7-0033D49C05C7}" type="slidenum">
              <a:rPr lang="zh-TW" altLang="en-US" smtClean="0">
                <a:solidFill>
                  <a:prstClr val="black"/>
                </a:solidFill>
              </a:rPr>
              <a:pPr/>
              <a:t>12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35087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b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EB29CE-A4C0-4DE1-89A7-0033D49C05C7}" type="slidenum">
              <a:rPr lang="zh-TW" altLang="en-US" smtClean="0">
                <a:solidFill>
                  <a:prstClr val="black"/>
                </a:solidFill>
              </a:rPr>
              <a:pPr/>
              <a:t>13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73004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D0FD6-8293-357E-9E46-39D8CE25B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251BAE85-AFD1-7E11-F116-6E7BB8D9A2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2C15787-B917-4267-20A1-A179B56FE8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b="1" i="0">
              <a:effectLst/>
              <a:latin typeface="var( --e-global-typography-primary-font-family )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2B39667-0A8C-D7C9-2BDC-C0BD799428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EB29CE-A4C0-4DE1-89A7-0033D49C05C7}" type="slidenum">
              <a:rPr lang="zh-TW" altLang="en-US" smtClean="0">
                <a:solidFill>
                  <a:prstClr val="black"/>
                </a:solidFill>
              </a:rPr>
              <a:pPr/>
              <a:t>14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92518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TW" dirty="0">
              <a:solidFill>
                <a:srgbClr val="FF0000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0FDA659-EF94-452C-9DAD-188FCD45EB28}" type="slidenum">
              <a:rPr lang="en-GB" altLang="zh-TW" smtClean="0"/>
              <a:pPr>
                <a:defRPr/>
              </a:pPr>
              <a:t>15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36423904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3D3D7D-AB5E-43B9-BF37-078E8FE6D531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31092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3D3D7D-AB5E-43B9-BF37-078E8FE6D531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51906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3D3D7D-AB5E-43B9-BF37-078E8FE6D531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48343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3D3D7D-AB5E-43B9-BF37-078E8FE6D531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6802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9" name="日期版面配置區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60A5-8B36-416E-8A42-5E16832D2BA0}" type="datetimeFigureOut">
              <a:rPr lang="zh-TW" altLang="en-US" smtClean="0"/>
              <a:pPr/>
              <a:t>2026/5/2</a:t>
            </a:fld>
            <a:endParaRPr lang="zh-TW" altLang="en-US"/>
          </a:p>
        </p:txBody>
      </p:sp>
      <p:sp>
        <p:nvSpPr>
          <p:cNvPr id="10" name="頁尾版面配置區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1" name="投影片編號版面配置區 10"/>
          <p:cNvSpPr>
            <a:spLocks noGrp="1"/>
          </p:cNvSpPr>
          <p:nvPr>
            <p:ph type="sldNum" sz="quarter" idx="12"/>
          </p:nvPr>
        </p:nvSpPr>
        <p:spPr>
          <a:xfrm>
            <a:off x="6972300" y="6356350"/>
            <a:ext cx="2057400" cy="365125"/>
          </a:xfrm>
        </p:spPr>
        <p:txBody>
          <a:bodyPr/>
          <a:lstStyle/>
          <a:p>
            <a:fld id="{D7A02941-8343-46F8-849F-51E04F70E17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454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60A5-8B36-416E-8A42-5E16832D2BA0}" type="datetimeFigureOut">
              <a:rPr lang="zh-TW" altLang="en-US" smtClean="0"/>
              <a:pPr/>
              <a:t>2026/5/2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02941-8343-46F8-849F-51E04F70E17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1277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60A5-8B36-416E-8A42-5E16832D2BA0}" type="datetimeFigureOut">
              <a:rPr lang="zh-TW" altLang="en-US" smtClean="0"/>
              <a:pPr/>
              <a:t>2026/5/2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02941-8343-46F8-849F-51E04F70E17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2926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60A5-8B36-416E-8A42-5E16832D2BA0}" type="datetimeFigureOut">
              <a:rPr lang="zh-TW" altLang="en-US" smtClean="0"/>
              <a:pPr/>
              <a:t>2026/5/2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02941-8343-46F8-849F-51E04F70E17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9702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60A5-8B36-416E-8A42-5E16832D2BA0}" type="datetimeFigureOut">
              <a:rPr lang="zh-TW" altLang="en-US" smtClean="0"/>
              <a:pPr/>
              <a:t>2026/5/2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02941-8343-46F8-849F-51E04F70E17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6894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60A5-8B36-416E-8A42-5E16832D2BA0}" type="datetimeFigureOut">
              <a:rPr lang="zh-TW" altLang="en-US" smtClean="0"/>
              <a:pPr/>
              <a:t>2026/5/2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02941-8343-46F8-849F-51E04F70E17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1132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60A5-8B36-416E-8A42-5E16832D2BA0}" type="datetimeFigureOut">
              <a:rPr lang="zh-TW" altLang="en-US" smtClean="0"/>
              <a:pPr/>
              <a:t>2026/5/2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02941-8343-46F8-849F-51E04F70E17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6065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60A5-8B36-416E-8A42-5E16832D2BA0}" type="datetimeFigureOut">
              <a:rPr lang="zh-TW" altLang="en-US" smtClean="0"/>
              <a:pPr/>
              <a:t>2026/5/2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02941-8343-46F8-849F-51E04F70E17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8576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60A5-8B36-416E-8A42-5E16832D2BA0}" type="datetimeFigureOut">
              <a:rPr lang="zh-TW" altLang="en-US" smtClean="0"/>
              <a:pPr/>
              <a:t>2026/5/2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02941-8343-46F8-849F-51E04F70E17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3591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60A5-8B36-416E-8A42-5E16832D2BA0}" type="datetimeFigureOut">
              <a:rPr lang="zh-TW" altLang="en-US" smtClean="0"/>
              <a:pPr/>
              <a:t>2026/5/2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02941-8343-46F8-849F-51E04F70E17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6460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60A5-8B36-416E-8A42-5E16832D2BA0}" type="datetimeFigureOut">
              <a:rPr lang="zh-TW" altLang="en-US" smtClean="0"/>
              <a:pPr/>
              <a:t>2026/5/2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02941-8343-46F8-849F-51E04F70E17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69191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95288" y="360363"/>
            <a:ext cx="7416800" cy="33813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395288" y="1412875"/>
            <a:ext cx="8353425" cy="4895850"/>
          </a:xfrm>
        </p:spPr>
        <p:txBody>
          <a:bodyPr/>
          <a:lstStyle/>
          <a:p>
            <a:pPr lvl="0"/>
            <a:endParaRPr lang="zh-TW" alt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826539-C95B-48F6-9AC3-704538472A6A}" type="datetime1">
              <a:rPr lang="zh-TW" altLang="en-US"/>
              <a:pPr>
                <a:defRPr/>
              </a:pPr>
              <a:t>2026/5/2</a:t>
            </a:fld>
            <a:r>
              <a:rPr lang="en-GB" altLang="zh-TW"/>
              <a:t>00 Month 0000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zh-TW"/>
              <a:t>Presentation title in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DBC793-8A54-4DD5-8E21-F106A9181C9E}" type="slidenum">
              <a:rPr lang="en-GB" altLang="zh-TW"/>
              <a:pPr/>
              <a:t>‹#›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26779316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內容頁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 baseline="0">
                <a:solidFill>
                  <a:srgbClr val="333372"/>
                </a:solidFill>
                <a:latin typeface="Arial Unicode MS" pitchFamily="34" charset="-120"/>
                <a:ea typeface="文鼎黑體B" pitchFamily="34" charset="-120"/>
                <a:cs typeface="文鼎黑體B" pitchFamily="34" charset="-120"/>
              </a:defRPr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333949"/>
            <a:ext cx="8229600" cy="4894729"/>
          </a:xfrm>
        </p:spPr>
        <p:txBody>
          <a:bodyPr/>
          <a:lstStyle>
            <a:lvl1pPr>
              <a:lnSpc>
                <a:spcPct val="100000"/>
              </a:lnSpc>
              <a:buFont typeface="Arial" pitchFamily="34" charset="0"/>
              <a:buChar char="•"/>
              <a:defRPr sz="2400" baseline="0">
                <a:latin typeface="Arial Unicode MS" pitchFamily="34" charset="-120"/>
                <a:ea typeface="文鼎黑體M" pitchFamily="34" charset="-120"/>
                <a:cs typeface="文鼎黑體M" pitchFamily="34" charset="-120"/>
              </a:defRPr>
            </a:lvl1pPr>
            <a:lvl2pPr>
              <a:lnSpc>
                <a:spcPct val="100000"/>
              </a:lnSpc>
              <a:defRPr sz="1500" baseline="0">
                <a:latin typeface="Arial Unicode MS" pitchFamily="34" charset="-120"/>
                <a:ea typeface="文鼎黑體M" pitchFamily="34" charset="-120"/>
                <a:cs typeface="文鼎黑體M" pitchFamily="34" charset="-120"/>
              </a:defRPr>
            </a:lvl2pPr>
            <a:lvl3pPr>
              <a:lnSpc>
                <a:spcPct val="100000"/>
              </a:lnSpc>
              <a:defRPr sz="1350" baseline="0">
                <a:latin typeface="Arial Unicode MS" pitchFamily="34" charset="-120"/>
                <a:ea typeface="文鼎黑體M" pitchFamily="34" charset="-120"/>
                <a:cs typeface="文鼎黑體M" pitchFamily="34" charset="-120"/>
              </a:defRPr>
            </a:lvl3pPr>
            <a:lvl4pPr>
              <a:lnSpc>
                <a:spcPct val="100000"/>
              </a:lnSpc>
              <a:defRPr sz="1200" baseline="0">
                <a:latin typeface="Arial Unicode MS" pitchFamily="34" charset="-120"/>
                <a:ea typeface="文鼎黑體M" pitchFamily="34" charset="-120"/>
                <a:cs typeface="文鼎黑體M" pitchFamily="34" charset="-120"/>
              </a:defRPr>
            </a:lvl4pPr>
            <a:lvl5pPr>
              <a:lnSpc>
                <a:spcPct val="100000"/>
              </a:lnSpc>
              <a:defRPr sz="1200" baseline="0">
                <a:latin typeface="Arial Unicode MS" pitchFamily="34" charset="-120"/>
                <a:ea typeface="文鼎黑體M" pitchFamily="34" charset="-120"/>
                <a:cs typeface="文鼎黑體M" pitchFamily="34" charset="-120"/>
              </a:defRPr>
            </a:lvl5pPr>
            <a:lvl6pPr>
              <a:buNone/>
              <a:defRPr/>
            </a:lvl6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  <a:endParaRPr kumimoji="1" lang="en-US" altLang="zh-TW"/>
          </a:p>
        </p:txBody>
      </p:sp>
    </p:spTree>
    <p:extLst>
      <p:ext uri="{BB962C8B-B14F-4D97-AF65-F5344CB8AC3E}">
        <p14:creationId xmlns:p14="http://schemas.microsoft.com/office/powerpoint/2010/main" val="1222382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C560A5-8B36-416E-8A42-5E16832D2BA0}" type="datetimeFigureOut">
              <a:rPr lang="zh-TW" altLang="en-US" smtClean="0"/>
              <a:pPr/>
              <a:t>2026/5/2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A02941-8343-46F8-849F-51E04F70E17F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0" y="6313488"/>
            <a:ext cx="9144000" cy="54451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pic>
        <p:nvPicPr>
          <p:cNvPr id="1028" name="Picture 4" descr="關於健喬- Synmosa">
            <a:extLst>
              <a:ext uri="{FF2B5EF4-FFF2-40B4-BE49-F238E27FC236}">
                <a16:creationId xmlns:a16="http://schemas.microsoft.com/office/drawing/2014/main" id="{43B7CFBB-6DC0-7144-79B4-CAB490E122F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1920" y="17861"/>
            <a:ext cx="1402080" cy="471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台股研究報告】健喬(4114):受惠疫情旗下愛克痰大賣，加上併購綜效浮現，獲利持續穩定成長!-邱微瑄| CMoney投資網誌">
            <a:extLst>
              <a:ext uri="{FF2B5EF4-FFF2-40B4-BE49-F238E27FC236}">
                <a16:creationId xmlns:a16="http://schemas.microsoft.com/office/drawing/2014/main" id="{3691E8EE-CBCC-DC75-55DF-686BCE22F90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93" t="29428" r="6001" b="31091"/>
          <a:stretch>
            <a:fillRect/>
          </a:stretch>
        </p:blipFill>
        <p:spPr bwMode="auto">
          <a:xfrm>
            <a:off x="7466489" y="6299994"/>
            <a:ext cx="1695702" cy="571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4068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21" r:id="rId12"/>
    <p:sldLayoutId id="2147483722" r:id="rId1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n-lt"/>
          <a:ea typeface="標楷體" panose="03000509000000000000" pitchFamily="65" charset="-120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標楷體" panose="03000509000000000000" pitchFamily="65" charset="-120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標楷體" panose="03000509000000000000" pitchFamily="65" charset="-120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標楷體" panose="03000509000000000000" pitchFamily="65" charset="-120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標楷體" panose="03000509000000000000" pitchFamily="65" charset="-120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標楷體" panose="03000509000000000000" pitchFamily="65" charset="-120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副標題 28"/>
          <p:cNvSpPr>
            <a:spLocks noGrp="1"/>
          </p:cNvSpPr>
          <p:nvPr>
            <p:ph type="subTitle" idx="1"/>
          </p:nvPr>
        </p:nvSpPr>
        <p:spPr>
          <a:xfrm>
            <a:off x="2411760" y="4365104"/>
            <a:ext cx="4276725" cy="1495425"/>
          </a:xfrm>
        </p:spPr>
        <p:txBody>
          <a:bodyPr/>
          <a:lstStyle/>
          <a:p>
            <a:pPr eaLnBrk="1" hangingPunct="1"/>
            <a:r>
              <a:rPr lang="zh-TW" altLang="en-US" sz="2000" dirty="0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 </a:t>
            </a:r>
            <a:r>
              <a:rPr lang="en-US" altLang="zh-TW" sz="2000" dirty="0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HPB202.George</a:t>
            </a:r>
          </a:p>
          <a:p>
            <a:pPr eaLnBrk="1" hangingPunct="1"/>
            <a:r>
              <a:rPr lang="en-US" altLang="zh-TW" sz="2000" dirty="0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2026.05</a:t>
            </a:r>
          </a:p>
        </p:txBody>
      </p:sp>
      <p:sp>
        <p:nvSpPr>
          <p:cNvPr id="28676" name="標題 27"/>
          <p:cNvSpPr>
            <a:spLocks/>
          </p:cNvSpPr>
          <p:nvPr/>
        </p:nvSpPr>
        <p:spPr bwMode="auto">
          <a:xfrm>
            <a:off x="2454498" y="2875002"/>
            <a:ext cx="419124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fontAlgn="b"/>
            <a:r>
              <a:rPr kumimoji="0" lang="en-GB" altLang="zh-TW" sz="3600" b="1" dirty="0">
                <a:solidFill>
                  <a:srgbClr val="000056"/>
                </a:solidFill>
              </a:rPr>
              <a:t>HP </a:t>
            </a:r>
            <a:r>
              <a:rPr lang="en-GB" altLang="zh-TW" sz="3600" b="1" dirty="0"/>
              <a:t>Monthly Report</a:t>
            </a:r>
            <a:r>
              <a:rPr lang="en-GB" altLang="zh-TW" sz="3600" b="1" i="1" dirty="0"/>
              <a:t> </a:t>
            </a:r>
            <a:endParaRPr lang="zh-TW" altLang="zh-TW" sz="3600" dirty="0"/>
          </a:p>
        </p:txBody>
      </p:sp>
    </p:spTree>
    <p:extLst>
      <p:ext uri="{BB962C8B-B14F-4D97-AF65-F5344CB8AC3E}">
        <p14:creationId xmlns:p14="http://schemas.microsoft.com/office/powerpoint/2010/main" val="1296505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投影片編號版面配置區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E44E300E-34E3-4EF4-AE88-669064631526}" type="slidenum">
              <a:rPr kumimoji="0" lang="en-GB" altLang="zh-TW"/>
              <a:pPr eaLnBrk="1" hangingPunct="1"/>
              <a:t>2</a:t>
            </a:fld>
            <a:endParaRPr kumimoji="0" lang="en-GB" altLang="zh-TW" dirty="0"/>
          </a:p>
        </p:txBody>
      </p:sp>
      <p:sp>
        <p:nvSpPr>
          <p:cNvPr id="29699" name="Rectangle 2"/>
          <p:cNvSpPr>
            <a:spLocks noGrp="1"/>
          </p:cNvSpPr>
          <p:nvPr>
            <p:ph type="title"/>
          </p:nvPr>
        </p:nvSpPr>
        <p:spPr>
          <a:xfrm>
            <a:off x="69850" y="188640"/>
            <a:ext cx="7416800" cy="494481"/>
          </a:xfrm>
        </p:spPr>
        <p:txBody>
          <a:bodyPr>
            <a:noAutofit/>
          </a:bodyPr>
          <a:lstStyle/>
          <a:p>
            <a:r>
              <a:rPr lang="en-US" altLang="zh-TW" sz="2000" b="1" i="1"/>
              <a:t>I.</a:t>
            </a:r>
            <a:r>
              <a:rPr lang="zh-TW" altLang="zh-TW" sz="2000" b="1" i="1"/>
              <a:t> </a:t>
            </a:r>
            <a:r>
              <a:rPr lang="en-GB" altLang="zh-TW" sz="2000" b="1" i="1" u="sng"/>
              <a:t>Commentary on Sales Performance by PSR</a:t>
            </a:r>
            <a:r>
              <a:rPr lang="en-GB" altLang="zh-TW" sz="2000"/>
              <a:t> </a:t>
            </a:r>
            <a:endParaRPr lang="zh-TW" altLang="en-US" sz="2000">
              <a:latin typeface="Verdan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083E077D-BF67-4E58-A3B1-326F1E77C270}"/>
              </a:ext>
            </a:extLst>
          </p:cNvPr>
          <p:cNvSpPr txBox="1">
            <a:spLocks/>
          </p:cNvSpPr>
          <p:nvPr/>
        </p:nvSpPr>
        <p:spPr bwMode="auto">
          <a:xfrm>
            <a:off x="107504" y="2183038"/>
            <a:ext cx="8824920" cy="36724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284163" indent="-284163" defTabSz="796925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796925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796925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796925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796925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7969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7969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7969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7969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88900" lvl="2" indent="0" defTabSz="685800" eaLnBrk="1" hangingPunct="1">
              <a:spcBef>
                <a:spcPts val="600"/>
              </a:spcBef>
              <a:defRPr/>
            </a:pPr>
            <a:endParaRPr lang="en-US" altLang="zh-TW" sz="1400" u="sng"/>
          </a:p>
          <a:p>
            <a:pPr marL="88900" lvl="2" indent="0" defTabSz="685800" eaLnBrk="1" hangingPunct="1">
              <a:spcBef>
                <a:spcPts val="600"/>
              </a:spcBef>
              <a:defRPr/>
            </a:pPr>
            <a:endParaRPr lang="en-US" altLang="zh-TW" sz="1400" u="sng"/>
          </a:p>
          <a:p>
            <a:pPr marL="88900" lvl="2" indent="0" defTabSz="685800" eaLnBrk="1" hangingPunct="1">
              <a:lnSpc>
                <a:spcPct val="150000"/>
              </a:lnSpc>
              <a:spcBef>
                <a:spcPts val="600"/>
              </a:spcBef>
              <a:defRPr/>
            </a:pPr>
            <a:endParaRPr lang="en-US" altLang="zh-TW" sz="1400"/>
          </a:p>
        </p:txBody>
      </p:sp>
      <p:sp>
        <p:nvSpPr>
          <p:cNvPr id="2" name="文字版面配置區 2">
            <a:extLst>
              <a:ext uri="{FF2B5EF4-FFF2-40B4-BE49-F238E27FC236}">
                <a16:creationId xmlns:a16="http://schemas.microsoft.com/office/drawing/2014/main" id="{033F1857-F164-E792-57B0-E0CF9CB33CC9}"/>
              </a:ext>
            </a:extLst>
          </p:cNvPr>
          <p:cNvSpPr txBox="1">
            <a:spLocks/>
          </p:cNvSpPr>
          <p:nvPr/>
        </p:nvSpPr>
        <p:spPr bwMode="auto">
          <a:xfrm>
            <a:off x="241881" y="2525520"/>
            <a:ext cx="8556166" cy="36724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284163" indent="-284163" defTabSz="796925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796925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796925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796925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796925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7969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7969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7969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7969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342900" lvl="1" indent="-342900" defTabSz="685800" eaLnBrk="1" hangingPunct="1">
              <a:spcBef>
                <a:spcPts val="600"/>
              </a:spcBef>
              <a:defRPr/>
            </a:pPr>
            <a:endParaRPr kumimoji="0"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80C94AEF-714D-4CE4-B31B-1F0760F810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6917910"/>
              </p:ext>
            </p:extLst>
          </p:nvPr>
        </p:nvGraphicFramePr>
        <p:xfrm>
          <a:off x="0" y="841543"/>
          <a:ext cx="9144000" cy="1467252"/>
        </p:xfrm>
        <a:graphic>
          <a:graphicData uri="http://schemas.openxmlformats.org/drawingml/2006/table">
            <a:tbl>
              <a:tblPr/>
              <a:tblGrid>
                <a:gridCol w="754380">
                  <a:extLst>
                    <a:ext uri="{9D8B030D-6E8A-4147-A177-3AD203B41FA5}">
                      <a16:colId xmlns:a16="http://schemas.microsoft.com/office/drawing/2014/main" val="3678927661"/>
                    </a:ext>
                  </a:extLst>
                </a:gridCol>
                <a:gridCol w="983111">
                  <a:extLst>
                    <a:ext uri="{9D8B030D-6E8A-4147-A177-3AD203B41FA5}">
                      <a16:colId xmlns:a16="http://schemas.microsoft.com/office/drawing/2014/main" val="892831122"/>
                    </a:ext>
                  </a:extLst>
                </a:gridCol>
                <a:gridCol w="903233">
                  <a:extLst>
                    <a:ext uri="{9D8B030D-6E8A-4147-A177-3AD203B41FA5}">
                      <a16:colId xmlns:a16="http://schemas.microsoft.com/office/drawing/2014/main" val="600018778"/>
                    </a:ext>
                  </a:extLst>
                </a:gridCol>
                <a:gridCol w="722586">
                  <a:extLst>
                    <a:ext uri="{9D8B030D-6E8A-4147-A177-3AD203B41FA5}">
                      <a16:colId xmlns:a16="http://schemas.microsoft.com/office/drawing/2014/main" val="3849803648"/>
                    </a:ext>
                  </a:extLst>
                </a:gridCol>
                <a:gridCol w="903233">
                  <a:extLst>
                    <a:ext uri="{9D8B030D-6E8A-4147-A177-3AD203B41FA5}">
                      <a16:colId xmlns:a16="http://schemas.microsoft.com/office/drawing/2014/main" val="2338940623"/>
                    </a:ext>
                  </a:extLst>
                </a:gridCol>
                <a:gridCol w="722586">
                  <a:extLst>
                    <a:ext uri="{9D8B030D-6E8A-4147-A177-3AD203B41FA5}">
                      <a16:colId xmlns:a16="http://schemas.microsoft.com/office/drawing/2014/main" val="1542002405"/>
                    </a:ext>
                  </a:extLst>
                </a:gridCol>
                <a:gridCol w="903233">
                  <a:extLst>
                    <a:ext uri="{9D8B030D-6E8A-4147-A177-3AD203B41FA5}">
                      <a16:colId xmlns:a16="http://schemas.microsoft.com/office/drawing/2014/main" val="3510470081"/>
                    </a:ext>
                  </a:extLst>
                </a:gridCol>
                <a:gridCol w="903233">
                  <a:extLst>
                    <a:ext uri="{9D8B030D-6E8A-4147-A177-3AD203B41FA5}">
                      <a16:colId xmlns:a16="http://schemas.microsoft.com/office/drawing/2014/main" val="1094953162"/>
                    </a:ext>
                  </a:extLst>
                </a:gridCol>
                <a:gridCol w="722586">
                  <a:extLst>
                    <a:ext uri="{9D8B030D-6E8A-4147-A177-3AD203B41FA5}">
                      <a16:colId xmlns:a16="http://schemas.microsoft.com/office/drawing/2014/main" val="509469006"/>
                    </a:ext>
                  </a:extLst>
                </a:gridCol>
                <a:gridCol w="903233">
                  <a:extLst>
                    <a:ext uri="{9D8B030D-6E8A-4147-A177-3AD203B41FA5}">
                      <a16:colId xmlns:a16="http://schemas.microsoft.com/office/drawing/2014/main" val="3937408704"/>
                    </a:ext>
                  </a:extLst>
                </a:gridCol>
                <a:gridCol w="722586">
                  <a:extLst>
                    <a:ext uri="{9D8B030D-6E8A-4147-A177-3AD203B41FA5}">
                      <a16:colId xmlns:a16="http://schemas.microsoft.com/office/drawing/2014/main" val="4038799217"/>
                    </a:ext>
                  </a:extLst>
                </a:gridCol>
              </a:tblGrid>
              <a:tr h="26283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Month(Apr)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MAT (</a:t>
                      </a:r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Jan~Apr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3123732"/>
                  </a:ext>
                </a:extLst>
              </a:tr>
              <a:tr h="66437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Name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Actual  sales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 Budget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Ach. Rate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2025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Est.vs.LY G.R.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Actual  sales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 Budget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Ach. Rate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2025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Actual vs. LY G.R.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4069320"/>
                  </a:ext>
                </a:extLst>
              </a:tr>
              <a:tr h="54003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George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1,673,486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1,918,986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3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87.21%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1,789,116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3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-6.46%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7,001,421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7,429,257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3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94.24%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6,798,845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2.98%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835990"/>
                  </a:ext>
                </a:extLst>
              </a:tr>
            </a:tbl>
          </a:graphicData>
        </a:graphic>
      </p:graphicFrame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E2649B05-C920-DB59-F320-4B3344DA425D}"/>
              </a:ext>
            </a:extLst>
          </p:cNvPr>
          <p:cNvSpPr txBox="1">
            <a:spLocks/>
          </p:cNvSpPr>
          <p:nvPr/>
        </p:nvSpPr>
        <p:spPr bwMode="auto">
          <a:xfrm>
            <a:off x="442210" y="2471278"/>
            <a:ext cx="8490214" cy="3596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284163" indent="-284163" defTabSz="796925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796925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796925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796925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796925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7969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7969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7969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7969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342900" lvl="1" indent="-342900" defTabSz="685800" eaLnBrk="1" hangingPunct="1">
              <a:spcBef>
                <a:spcPts val="600"/>
              </a:spcBef>
              <a:defRPr/>
            </a:pP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Growth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：</a:t>
            </a:r>
            <a:endParaRPr kumimoji="0"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742950" lvl="2" indent="-342900" defTabSz="685800" eaLnBrk="1" hangingPunct="1">
              <a:spcBef>
                <a:spcPts val="600"/>
              </a:spcBef>
              <a:buFont typeface="+mj-lt"/>
              <a:buAutoNum type="arabicPeriod"/>
              <a:defRPr/>
            </a:pP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新光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YSL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開檔 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(+11.8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萬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)</a:t>
            </a:r>
          </a:p>
          <a:p>
            <a:pPr marL="742950" lvl="2" indent="-342900" defTabSz="685800" eaLnBrk="1" hangingPunct="1">
              <a:spcBef>
                <a:spcPts val="600"/>
              </a:spcBef>
              <a:buFont typeface="+mj-lt"/>
              <a:buAutoNum type="arabicPeriod"/>
              <a:defRPr/>
            </a:pPr>
            <a:endParaRPr kumimoji="0"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342900" lvl="1" indent="-342900" defTabSz="685800" eaLnBrk="1" hangingPunct="1">
              <a:spcBef>
                <a:spcPts val="600"/>
              </a:spcBef>
              <a:defRPr/>
            </a:pP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	Below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 ：</a:t>
            </a:r>
            <a:endParaRPr kumimoji="0"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742950" lvl="2" indent="-342900" defTabSz="685800" eaLnBrk="1" hangingPunct="1">
              <a:spcBef>
                <a:spcPts val="600"/>
              </a:spcBef>
              <a:buFont typeface="+mj-lt"/>
              <a:buAutoNum type="arabicPeriod"/>
              <a:defRPr/>
            </a:pP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  <a:sym typeface="Wingdings" panose="05000000000000000000" pitchFamily="2" charset="2"/>
              </a:rPr>
              <a:t>健保調降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, 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  <a:sym typeface="Wingdings" panose="05000000000000000000" pitchFamily="2" charset="2"/>
              </a:rPr>
              <a:t>ELI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  <a:sym typeface="Wingdings" panose="05000000000000000000" pitchFamily="2" charset="2"/>
              </a:rPr>
              <a:t>（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-1.9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萬）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,URI(-1.2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萬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)</a:t>
            </a:r>
          </a:p>
          <a:p>
            <a:pPr marL="742950" lvl="2" indent="-342900" defTabSz="685800" eaLnBrk="1" hangingPunct="1">
              <a:spcBef>
                <a:spcPts val="600"/>
              </a:spcBef>
              <a:buFont typeface="+mj-lt"/>
              <a:buAutoNum type="arabicPeriod"/>
              <a:defRPr/>
            </a:pP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慈濟議價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, ELI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（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-1.4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萬）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,URI(-3.5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萬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)</a:t>
            </a:r>
          </a:p>
          <a:p>
            <a:pPr marL="742950" lvl="2" indent="-342900" defTabSz="685800" eaLnBrk="1" hangingPunct="1">
              <a:spcBef>
                <a:spcPts val="600"/>
              </a:spcBef>
              <a:buFont typeface="+mj-lt"/>
              <a:buAutoNum type="arabicPeriod"/>
              <a:defRPr/>
            </a:pP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ABT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病人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DC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（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-8.6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萬）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,</a:t>
            </a:r>
          </a:p>
          <a:p>
            <a:pPr marL="742950" lvl="2" indent="-342900" defTabSz="685800" eaLnBrk="1" hangingPunct="1">
              <a:spcBef>
                <a:spcPts val="600"/>
              </a:spcBef>
              <a:buFont typeface="+mj-lt"/>
              <a:buAutoNum type="arabicPeriod"/>
              <a:defRPr/>
            </a:pP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眼藥水停產（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-2.8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萬）</a:t>
            </a:r>
            <a:endParaRPr kumimoji="0"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400050" lvl="2" indent="0" defTabSz="685800" eaLnBrk="1" hangingPunct="1">
              <a:spcBef>
                <a:spcPts val="600"/>
              </a:spcBef>
              <a:defRPr/>
            </a:pPr>
            <a:endParaRPr kumimoji="0"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6031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投影片編號版面配置區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E44E300E-34E3-4EF4-AE88-669064631526}" type="slidenum">
              <a:rPr kumimoji="0" lang="en-GB" altLang="zh-TW"/>
              <a:pPr eaLnBrk="1" hangingPunct="1"/>
              <a:t>3</a:t>
            </a:fld>
            <a:endParaRPr kumimoji="0" lang="en-GB" altLang="zh-TW"/>
          </a:p>
        </p:txBody>
      </p:sp>
      <p:sp>
        <p:nvSpPr>
          <p:cNvPr id="29699" name="Rectangle 2"/>
          <p:cNvSpPr>
            <a:spLocks noGrp="1"/>
          </p:cNvSpPr>
          <p:nvPr>
            <p:ph type="title"/>
          </p:nvPr>
        </p:nvSpPr>
        <p:spPr>
          <a:xfrm>
            <a:off x="69850" y="188640"/>
            <a:ext cx="7416800" cy="494481"/>
          </a:xfrm>
        </p:spPr>
        <p:txBody>
          <a:bodyPr>
            <a:noAutofit/>
          </a:bodyPr>
          <a:lstStyle/>
          <a:p>
            <a:r>
              <a:rPr lang="en-US" altLang="zh-TW" sz="2000" b="1" i="1" dirty="0"/>
              <a:t>I.</a:t>
            </a:r>
            <a:r>
              <a:rPr lang="zh-TW" altLang="zh-TW" sz="2000" b="1" i="1" dirty="0"/>
              <a:t> </a:t>
            </a:r>
            <a:r>
              <a:rPr lang="en-GB" altLang="zh-TW" sz="2000" b="1" i="1" u="sng" dirty="0"/>
              <a:t>Commentary on Sales Performance by PSR</a:t>
            </a:r>
            <a:r>
              <a:rPr lang="zh-TW" altLang="en-US" sz="2000" b="1" i="1" u="sng" dirty="0"/>
              <a:t>（</a:t>
            </a:r>
            <a:r>
              <a:rPr lang="en-GB" altLang="zh-TW" sz="2000" b="1" i="1" u="sng" dirty="0"/>
              <a:t>Forecast)</a:t>
            </a:r>
            <a:r>
              <a:rPr lang="en-GB" altLang="zh-TW" sz="2000" dirty="0"/>
              <a:t> </a:t>
            </a:r>
            <a:endParaRPr lang="zh-TW" altLang="en-US" sz="2000" dirty="0">
              <a:latin typeface="Verdan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083E077D-BF67-4E58-A3B1-326F1E77C270}"/>
              </a:ext>
            </a:extLst>
          </p:cNvPr>
          <p:cNvSpPr txBox="1">
            <a:spLocks/>
          </p:cNvSpPr>
          <p:nvPr/>
        </p:nvSpPr>
        <p:spPr bwMode="auto">
          <a:xfrm>
            <a:off x="12552" y="3691470"/>
            <a:ext cx="8831234" cy="3166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284163" indent="-284163" defTabSz="796925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796925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796925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796925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796925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7969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7969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7969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7969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458787" lvl="1" indent="0">
              <a:spcBef>
                <a:spcPct val="20000"/>
              </a:spcBef>
              <a:spcAft>
                <a:spcPct val="20000"/>
              </a:spcAft>
            </a:pPr>
            <a:endParaRPr kumimoji="0" lang="en-US" altLang="zh-TW" sz="1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FF7800"/>
              </a:buClr>
            </a:pPr>
            <a:endParaRPr kumimoji="0" lang="en-US" altLang="zh-TW" sz="1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A0B23E6-EBA0-4862-B2C4-9EF4617AEA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8006121"/>
              </p:ext>
            </p:extLst>
          </p:nvPr>
        </p:nvGraphicFramePr>
        <p:xfrm>
          <a:off x="0" y="868793"/>
          <a:ext cx="9144000" cy="1416812"/>
        </p:xfrm>
        <a:graphic>
          <a:graphicData uri="http://schemas.openxmlformats.org/drawingml/2006/table">
            <a:tbl>
              <a:tblPr/>
              <a:tblGrid>
                <a:gridCol w="655874">
                  <a:extLst>
                    <a:ext uri="{9D8B030D-6E8A-4147-A177-3AD203B41FA5}">
                      <a16:colId xmlns:a16="http://schemas.microsoft.com/office/drawing/2014/main" val="2491236619"/>
                    </a:ext>
                  </a:extLst>
                </a:gridCol>
                <a:gridCol w="857682">
                  <a:extLst>
                    <a:ext uri="{9D8B030D-6E8A-4147-A177-3AD203B41FA5}">
                      <a16:colId xmlns:a16="http://schemas.microsoft.com/office/drawing/2014/main" val="3594398913"/>
                    </a:ext>
                  </a:extLst>
                </a:gridCol>
                <a:gridCol w="933360">
                  <a:extLst>
                    <a:ext uri="{9D8B030D-6E8A-4147-A177-3AD203B41FA5}">
                      <a16:colId xmlns:a16="http://schemas.microsoft.com/office/drawing/2014/main" val="4262274459"/>
                    </a:ext>
                  </a:extLst>
                </a:gridCol>
                <a:gridCol w="661034">
                  <a:extLst>
                    <a:ext uri="{9D8B030D-6E8A-4147-A177-3AD203B41FA5}">
                      <a16:colId xmlns:a16="http://schemas.microsoft.com/office/drawing/2014/main" val="3346280324"/>
                    </a:ext>
                  </a:extLst>
                </a:gridCol>
                <a:gridCol w="1079149">
                  <a:extLst>
                    <a:ext uri="{9D8B030D-6E8A-4147-A177-3AD203B41FA5}">
                      <a16:colId xmlns:a16="http://schemas.microsoft.com/office/drawing/2014/main" val="2520848754"/>
                    </a:ext>
                  </a:extLst>
                </a:gridCol>
                <a:gridCol w="756780">
                  <a:extLst>
                    <a:ext uri="{9D8B030D-6E8A-4147-A177-3AD203B41FA5}">
                      <a16:colId xmlns:a16="http://schemas.microsoft.com/office/drawing/2014/main" val="29355852"/>
                    </a:ext>
                  </a:extLst>
                </a:gridCol>
                <a:gridCol w="920748">
                  <a:extLst>
                    <a:ext uri="{9D8B030D-6E8A-4147-A177-3AD203B41FA5}">
                      <a16:colId xmlns:a16="http://schemas.microsoft.com/office/drawing/2014/main" val="937527158"/>
                    </a:ext>
                  </a:extLst>
                </a:gridCol>
                <a:gridCol w="933360">
                  <a:extLst>
                    <a:ext uri="{9D8B030D-6E8A-4147-A177-3AD203B41FA5}">
                      <a16:colId xmlns:a16="http://schemas.microsoft.com/office/drawing/2014/main" val="723232721"/>
                    </a:ext>
                  </a:extLst>
                </a:gridCol>
                <a:gridCol w="693713">
                  <a:extLst>
                    <a:ext uri="{9D8B030D-6E8A-4147-A177-3AD203B41FA5}">
                      <a16:colId xmlns:a16="http://schemas.microsoft.com/office/drawing/2014/main" val="1992357411"/>
                    </a:ext>
                  </a:extLst>
                </a:gridCol>
                <a:gridCol w="1094295">
                  <a:extLst>
                    <a:ext uri="{9D8B030D-6E8A-4147-A177-3AD203B41FA5}">
                      <a16:colId xmlns:a16="http://schemas.microsoft.com/office/drawing/2014/main" val="479046070"/>
                    </a:ext>
                  </a:extLst>
                </a:gridCol>
                <a:gridCol w="558005">
                  <a:extLst>
                    <a:ext uri="{9D8B030D-6E8A-4147-A177-3AD203B41FA5}">
                      <a16:colId xmlns:a16="http://schemas.microsoft.com/office/drawing/2014/main" val="2111034014"/>
                    </a:ext>
                  </a:extLst>
                </a:gridCol>
              </a:tblGrid>
              <a:tr h="28665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Month(May) / Forecast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MAT (Jan~May) / Forecast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7013522"/>
                  </a:ext>
                </a:extLst>
              </a:tr>
              <a:tr h="52921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Name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Estimate  sales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 Budget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Ach. Rate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2025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Est.vs.LY G.R.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Estimate Sales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 Budget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Ach. Rate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2025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Est. vs.LY G.R.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4891720"/>
                  </a:ext>
                </a:extLst>
              </a:tr>
              <a:tr h="60093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George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1,752,519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1,941,633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3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90.26%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1,544,676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3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13.46%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8,753,940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9,370,890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3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93.42%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8,343,521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4.92%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288743"/>
                  </a:ext>
                </a:extLst>
              </a:tr>
            </a:tbl>
          </a:graphicData>
        </a:graphic>
      </p:graphicFrame>
      <p:sp>
        <p:nvSpPr>
          <p:cNvPr id="2" name="文字版面配置區 2">
            <a:extLst>
              <a:ext uri="{FF2B5EF4-FFF2-40B4-BE49-F238E27FC236}">
                <a16:creationId xmlns:a16="http://schemas.microsoft.com/office/drawing/2014/main" id="{2F4932BB-C377-8780-75B9-93F28E9D4E22}"/>
              </a:ext>
            </a:extLst>
          </p:cNvPr>
          <p:cNvSpPr txBox="1">
            <a:spLocks/>
          </p:cNvSpPr>
          <p:nvPr/>
        </p:nvSpPr>
        <p:spPr bwMode="auto">
          <a:xfrm>
            <a:off x="442210" y="2471278"/>
            <a:ext cx="8490214" cy="3596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284163" indent="-284163" defTabSz="796925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796925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796925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796925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796925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7969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7969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7969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7969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342900" lvl="1" indent="-342900" defTabSz="685800" eaLnBrk="1" hangingPunct="1">
              <a:spcBef>
                <a:spcPts val="600"/>
              </a:spcBef>
              <a:defRPr/>
            </a:pP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Growth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：</a:t>
            </a:r>
            <a:endParaRPr kumimoji="0"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742950" lvl="2" indent="-342900" defTabSz="685800" eaLnBrk="1" hangingPunct="1">
              <a:spcBef>
                <a:spcPts val="600"/>
              </a:spcBef>
              <a:buFont typeface="+mj-lt"/>
              <a:buAutoNum type="arabicPeriod"/>
              <a:defRPr/>
            </a:pP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新光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YSL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開檔 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(+11.8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萬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)</a:t>
            </a:r>
          </a:p>
          <a:p>
            <a:pPr marL="742950" lvl="2" indent="-342900" defTabSz="685800" eaLnBrk="1" hangingPunct="1">
              <a:spcBef>
                <a:spcPts val="600"/>
              </a:spcBef>
              <a:buFont typeface="+mj-lt"/>
              <a:buAutoNum type="arabicPeriod"/>
              <a:defRPr/>
            </a:pP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慈濟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YSL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處方釋出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(+1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萬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)</a:t>
            </a:r>
          </a:p>
          <a:p>
            <a:pPr marL="742950" lvl="2" indent="-342900" defTabSz="685800" eaLnBrk="1" hangingPunct="1">
              <a:spcBef>
                <a:spcPts val="600"/>
              </a:spcBef>
              <a:buFont typeface="+mj-lt"/>
              <a:buAutoNum type="arabicPeriod"/>
              <a:defRPr/>
            </a:pPr>
            <a:endParaRPr kumimoji="0"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342900" lvl="1" indent="-342900" defTabSz="685800" eaLnBrk="1" hangingPunct="1">
              <a:spcBef>
                <a:spcPts val="600"/>
              </a:spcBef>
              <a:defRPr/>
            </a:pP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	Below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 ：</a:t>
            </a:r>
            <a:endParaRPr kumimoji="0"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742950" lvl="2" indent="-342900" defTabSz="685800" eaLnBrk="1" hangingPunct="1">
              <a:spcBef>
                <a:spcPts val="600"/>
              </a:spcBef>
              <a:buFont typeface="+mj-lt"/>
              <a:buAutoNum type="arabicPeriod"/>
              <a:defRPr/>
            </a:pP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  <a:sym typeface="Wingdings" panose="05000000000000000000" pitchFamily="2" charset="2"/>
              </a:rPr>
              <a:t>健保調降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, 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  <a:sym typeface="Wingdings" panose="05000000000000000000" pitchFamily="2" charset="2"/>
              </a:rPr>
              <a:t>ELI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  <a:sym typeface="Wingdings" panose="05000000000000000000" pitchFamily="2" charset="2"/>
              </a:rPr>
              <a:t>（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-1.9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萬）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,URI(-1.2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萬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)</a:t>
            </a:r>
          </a:p>
          <a:p>
            <a:pPr marL="742950" lvl="2" indent="-342900" defTabSz="685800" eaLnBrk="1" hangingPunct="1">
              <a:spcBef>
                <a:spcPts val="600"/>
              </a:spcBef>
              <a:buFont typeface="+mj-lt"/>
              <a:buAutoNum type="arabicPeriod"/>
              <a:defRPr/>
            </a:pP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慈濟議價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, ELI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（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-1.4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萬）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,URI(-3.5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萬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)</a:t>
            </a:r>
          </a:p>
          <a:p>
            <a:pPr marL="742950" lvl="2" indent="-342900" defTabSz="685800" eaLnBrk="1" hangingPunct="1">
              <a:spcBef>
                <a:spcPts val="600"/>
              </a:spcBef>
              <a:buFont typeface="+mj-lt"/>
              <a:buAutoNum type="arabicPeriod"/>
              <a:defRPr/>
            </a:pP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慈濟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ABT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DC,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病人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Expire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（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-8.6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萬）</a:t>
            </a:r>
            <a:endParaRPr kumimoji="0"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742950" lvl="2" indent="-342900" defTabSz="685800" eaLnBrk="1" hangingPunct="1">
              <a:spcBef>
                <a:spcPts val="600"/>
              </a:spcBef>
              <a:buFont typeface="+mj-lt"/>
              <a:buAutoNum type="arabicPeriod"/>
              <a:defRPr/>
            </a:pP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眼藥水停產（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-2.8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萬）</a:t>
            </a:r>
            <a:endParaRPr kumimoji="0"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809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7A124DB0-53A4-4609-B0A4-D2C2372C1281}"/>
              </a:ext>
            </a:extLst>
          </p:cNvPr>
          <p:cNvSpPr txBox="1"/>
          <p:nvPr/>
        </p:nvSpPr>
        <p:spPr>
          <a:xfrm>
            <a:off x="150872" y="350606"/>
            <a:ext cx="7776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Budget</a:t>
            </a:r>
            <a:r>
              <a:rPr lang="zh-TW" altLang="en-US" b="1" dirty="0">
                <a:latin typeface="Arial" panose="020B0604020202020204" pitchFamily="34" charset="0"/>
                <a:ea typeface="新細明體"/>
                <a:cs typeface="Arial" panose="020B0604020202020204" pitchFamily="34" charset="0"/>
              </a:rPr>
              <a:t>：</a:t>
            </a:r>
            <a:r>
              <a:rPr lang="en-US" altLang="zh-TW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altLang="zh-TW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1,941,633</a:t>
            </a:r>
            <a:r>
              <a:rPr lang="en-US" altLang="zh-TW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Forecast</a:t>
            </a:r>
            <a:r>
              <a:rPr lang="zh-TW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：</a:t>
            </a:r>
            <a:r>
              <a:rPr lang="en-US" altLang="zh-TW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altLang="zh-TW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1,752,519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Ach. Rate</a:t>
            </a:r>
            <a:r>
              <a:rPr lang="zh-TW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r>
              <a:rPr lang="en-US" altLang="zh-TW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altLang="zh-TW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90.26%</a:t>
            </a:r>
            <a:endParaRPr lang="zh-TW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45A04C4-E18B-7F30-369D-E430CA5B76D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416800" cy="4944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baseline="0">
                <a:solidFill>
                  <a:srgbClr val="333372"/>
                </a:solidFill>
                <a:latin typeface="Arial Unicode MS" pitchFamily="34" charset="-120"/>
                <a:ea typeface="文鼎黑體B" pitchFamily="34" charset="-120"/>
                <a:cs typeface="文鼎黑體B" pitchFamily="34" charset="-120"/>
              </a:defRPr>
            </a:lvl1pPr>
          </a:lstStyle>
          <a:p>
            <a:r>
              <a:rPr lang="en-US" altLang="zh-TW" sz="2000" i="1" dirty="0"/>
              <a:t>I.</a:t>
            </a:r>
            <a:r>
              <a:rPr lang="zh-TW" altLang="zh-TW" sz="2000" i="1" dirty="0"/>
              <a:t> </a:t>
            </a:r>
            <a:r>
              <a:rPr lang="en-GB" altLang="zh-TW" sz="2000" i="1" u="sng" dirty="0"/>
              <a:t>Commentary on Sales Performance by PSR</a:t>
            </a:r>
            <a:r>
              <a:rPr lang="zh-TW" altLang="en-US" sz="2000" i="1" u="sng" dirty="0"/>
              <a:t>（</a:t>
            </a:r>
            <a:r>
              <a:rPr lang="en-GB" altLang="zh-TW" sz="2000" i="1" u="sng" dirty="0"/>
              <a:t>Forecast)</a:t>
            </a:r>
            <a:r>
              <a:rPr lang="en-GB" altLang="zh-TW" sz="2000" dirty="0"/>
              <a:t> </a:t>
            </a:r>
            <a:endParaRPr lang="zh-TW" altLang="en-US" sz="2000" dirty="0">
              <a:latin typeface="Verdana" panose="020B0604030504040204" pitchFamily="34" charset="0"/>
              <a:ea typeface="新細明體" panose="02020500000000000000" pitchFamily="18" charset="-12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E93FEFA-334C-4124-81F1-E757D5CF033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0493220"/>
              </p:ext>
            </p:extLst>
          </p:nvPr>
        </p:nvGraphicFramePr>
        <p:xfrm>
          <a:off x="0" y="714411"/>
          <a:ext cx="9145500" cy="5206089"/>
        </p:xfrm>
        <a:graphic>
          <a:graphicData uri="http://schemas.openxmlformats.org/drawingml/2006/table">
            <a:tbl>
              <a:tblPr/>
              <a:tblGrid>
                <a:gridCol w="397164">
                  <a:extLst>
                    <a:ext uri="{9D8B030D-6E8A-4147-A177-3AD203B41FA5}">
                      <a16:colId xmlns:a16="http://schemas.microsoft.com/office/drawing/2014/main" val="240489708"/>
                    </a:ext>
                  </a:extLst>
                </a:gridCol>
                <a:gridCol w="396834">
                  <a:extLst>
                    <a:ext uri="{9D8B030D-6E8A-4147-A177-3AD203B41FA5}">
                      <a16:colId xmlns:a16="http://schemas.microsoft.com/office/drawing/2014/main" val="1691028486"/>
                    </a:ext>
                  </a:extLst>
                </a:gridCol>
                <a:gridCol w="594245">
                  <a:extLst>
                    <a:ext uri="{9D8B030D-6E8A-4147-A177-3AD203B41FA5}">
                      <a16:colId xmlns:a16="http://schemas.microsoft.com/office/drawing/2014/main" val="1100569262"/>
                    </a:ext>
                  </a:extLst>
                </a:gridCol>
                <a:gridCol w="594245">
                  <a:extLst>
                    <a:ext uri="{9D8B030D-6E8A-4147-A177-3AD203B41FA5}">
                      <a16:colId xmlns:a16="http://schemas.microsoft.com/office/drawing/2014/main" val="3864018954"/>
                    </a:ext>
                  </a:extLst>
                </a:gridCol>
                <a:gridCol w="594245">
                  <a:extLst>
                    <a:ext uri="{9D8B030D-6E8A-4147-A177-3AD203B41FA5}">
                      <a16:colId xmlns:a16="http://schemas.microsoft.com/office/drawing/2014/main" val="3529633476"/>
                    </a:ext>
                  </a:extLst>
                </a:gridCol>
                <a:gridCol w="594245">
                  <a:extLst>
                    <a:ext uri="{9D8B030D-6E8A-4147-A177-3AD203B41FA5}">
                      <a16:colId xmlns:a16="http://schemas.microsoft.com/office/drawing/2014/main" val="2651963135"/>
                    </a:ext>
                  </a:extLst>
                </a:gridCol>
                <a:gridCol w="594245">
                  <a:extLst>
                    <a:ext uri="{9D8B030D-6E8A-4147-A177-3AD203B41FA5}">
                      <a16:colId xmlns:a16="http://schemas.microsoft.com/office/drawing/2014/main" val="250277754"/>
                    </a:ext>
                  </a:extLst>
                </a:gridCol>
                <a:gridCol w="594245">
                  <a:extLst>
                    <a:ext uri="{9D8B030D-6E8A-4147-A177-3AD203B41FA5}">
                      <a16:colId xmlns:a16="http://schemas.microsoft.com/office/drawing/2014/main" val="3822357422"/>
                    </a:ext>
                  </a:extLst>
                </a:gridCol>
                <a:gridCol w="594245">
                  <a:extLst>
                    <a:ext uri="{9D8B030D-6E8A-4147-A177-3AD203B41FA5}">
                      <a16:colId xmlns:a16="http://schemas.microsoft.com/office/drawing/2014/main" val="2430446357"/>
                    </a:ext>
                  </a:extLst>
                </a:gridCol>
                <a:gridCol w="594245">
                  <a:extLst>
                    <a:ext uri="{9D8B030D-6E8A-4147-A177-3AD203B41FA5}">
                      <a16:colId xmlns:a16="http://schemas.microsoft.com/office/drawing/2014/main" val="3020369894"/>
                    </a:ext>
                  </a:extLst>
                </a:gridCol>
                <a:gridCol w="594245">
                  <a:extLst>
                    <a:ext uri="{9D8B030D-6E8A-4147-A177-3AD203B41FA5}">
                      <a16:colId xmlns:a16="http://schemas.microsoft.com/office/drawing/2014/main" val="248400233"/>
                    </a:ext>
                  </a:extLst>
                </a:gridCol>
                <a:gridCol w="594245">
                  <a:extLst>
                    <a:ext uri="{9D8B030D-6E8A-4147-A177-3AD203B41FA5}">
                      <a16:colId xmlns:a16="http://schemas.microsoft.com/office/drawing/2014/main" val="2852048829"/>
                    </a:ext>
                  </a:extLst>
                </a:gridCol>
                <a:gridCol w="594245">
                  <a:extLst>
                    <a:ext uri="{9D8B030D-6E8A-4147-A177-3AD203B41FA5}">
                      <a16:colId xmlns:a16="http://schemas.microsoft.com/office/drawing/2014/main" val="1802905972"/>
                    </a:ext>
                  </a:extLst>
                </a:gridCol>
                <a:gridCol w="594245">
                  <a:extLst>
                    <a:ext uri="{9D8B030D-6E8A-4147-A177-3AD203B41FA5}">
                      <a16:colId xmlns:a16="http://schemas.microsoft.com/office/drawing/2014/main" val="2970054787"/>
                    </a:ext>
                  </a:extLst>
                </a:gridCol>
                <a:gridCol w="723762">
                  <a:extLst>
                    <a:ext uri="{9D8B030D-6E8A-4147-A177-3AD203B41FA5}">
                      <a16:colId xmlns:a16="http://schemas.microsoft.com/office/drawing/2014/main" val="2832046933"/>
                    </a:ext>
                  </a:extLst>
                </a:gridCol>
                <a:gridCol w="496800">
                  <a:extLst>
                    <a:ext uri="{9D8B030D-6E8A-4147-A177-3AD203B41FA5}">
                      <a16:colId xmlns:a16="http://schemas.microsoft.com/office/drawing/2014/main" val="2218097861"/>
                    </a:ext>
                  </a:extLst>
                </a:gridCol>
              </a:tblGrid>
              <a:tr h="55674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醫院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年份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Jan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Feb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Mar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Apr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May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Jun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Jul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Aug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Sep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Oct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Nov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Dec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YTD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Est. vsLY G.R.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7683938"/>
                  </a:ext>
                </a:extLst>
              </a:tr>
              <a:tr h="211334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新光醫院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484,179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427,399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569,733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597,383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422,442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599,023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474,686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410,265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627,582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434,211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597,086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466,767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6,110,756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1768323"/>
                  </a:ext>
                </a:extLst>
              </a:tr>
              <a:tr h="21133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816,881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316,321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641,846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780,217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 dirty="0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598,374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22.93%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380127"/>
                  </a:ext>
                </a:extLst>
              </a:tr>
              <a:tr h="211334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聖賢藥局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8,610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12,750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7,660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14,880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33,050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9,080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10,730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8,160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12,850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7,710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5,140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33,410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164,030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0782300"/>
                  </a:ext>
                </a:extLst>
              </a:tr>
              <a:tr h="21133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13,310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10,280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 dirty="0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5,910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-46.26%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783898"/>
                  </a:ext>
                </a:extLst>
              </a:tr>
              <a:tr h="211334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佳赫藥局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275695"/>
                  </a:ext>
                </a:extLst>
              </a:tr>
              <a:tr h="21133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25,311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25,311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 dirty="0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#DIV/0!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113635"/>
                  </a:ext>
                </a:extLst>
              </a:tr>
              <a:tr h="211334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慈濟醫院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576,108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594,749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735,734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608,689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584,289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620,914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709,496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307,200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649,440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504,570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483,243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651,250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7,025,682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504749"/>
                  </a:ext>
                </a:extLst>
              </a:tr>
              <a:tr h="21133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780,351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215,140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682,518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 dirty="0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476,024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 dirty="0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550,311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-14.36%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8921720"/>
                  </a:ext>
                </a:extLst>
              </a:tr>
              <a:tr h="211334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佑成藥局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56,858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56,858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56,858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85,287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113,716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110,598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82,169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56,858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28,429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56,858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158,102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862,591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6069015"/>
                  </a:ext>
                </a:extLst>
              </a:tr>
              <a:tr h="21133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50,622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25,311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 dirty="0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25,311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 dirty="0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50,622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-40.65%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7352626"/>
                  </a:ext>
                </a:extLst>
              </a:tr>
              <a:tr h="211334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耕莘台北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258,617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178,053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188,113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210,322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191,933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208,691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186,346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138,017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288,914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179,161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213,800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177,738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2,419,705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60735"/>
                  </a:ext>
                </a:extLst>
              </a:tr>
              <a:tr h="21133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323,143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94,677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245,671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220,810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 dirty="0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232,887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5.89%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5016235"/>
                  </a:ext>
                </a:extLst>
              </a:tr>
              <a:tr h="211334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安康耕莘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124,281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54,992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73,953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82,528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72,315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65,365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74,942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109,763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76,630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70,148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48,380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82,991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936,288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18423"/>
                  </a:ext>
                </a:extLst>
              </a:tr>
              <a:tr h="21133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164,674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46,091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47,151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98,490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 dirty="0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125,927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6.15%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7757887"/>
                  </a:ext>
                </a:extLst>
              </a:tr>
              <a:tr h="211334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永和耕莘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141,716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194,276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115,300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183,296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155,360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206,320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133,204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200,184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116,044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198,370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145,974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200,912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1,990,956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0505966"/>
                  </a:ext>
                </a:extLst>
              </a:tr>
              <a:tr h="21133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244,731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135,790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343,211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62,354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 dirty="0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188,488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23.87%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8836535"/>
                  </a:ext>
                </a:extLst>
              </a:tr>
              <a:tr h="211334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耕莘診所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5,202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13,006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600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18,808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9401052"/>
                  </a:ext>
                </a:extLst>
              </a:tr>
              <a:tr h="21133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 dirty="0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-1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9695081"/>
                  </a:ext>
                </a:extLst>
              </a:tr>
              <a:tr h="211334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欣康藥局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59,916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29,958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59,916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29,958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59,916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29,958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59,916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29,958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29,958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29,958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419,412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2345447"/>
                  </a:ext>
                </a:extLst>
              </a:tr>
              <a:tr h="21133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29,958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29,958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29,958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 dirty="0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-50.00%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103118"/>
                  </a:ext>
                </a:extLst>
              </a:tr>
              <a:tr h="211334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Total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1,653,427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1,549,035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1,807,267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1,789,116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1,544,676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1,883,025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1,729,960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1,315,674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1,841,324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1,452,557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1,580,439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1,801,728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19,948,228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5244419"/>
                  </a:ext>
                </a:extLst>
              </a:tr>
              <a:tr h="21133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2,385,049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927,220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2,015,666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1,673,486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1,752,519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2.98%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4713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3481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C7F614D0-D488-405A-9198-A9A1D03E84D4}"/>
              </a:ext>
            </a:extLst>
          </p:cNvPr>
          <p:cNvSpPr txBox="1">
            <a:spLocks/>
          </p:cNvSpPr>
          <p:nvPr/>
        </p:nvSpPr>
        <p:spPr>
          <a:xfrm>
            <a:off x="80537" y="620688"/>
            <a:ext cx="7416800" cy="4944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baseline="0">
                <a:solidFill>
                  <a:srgbClr val="333372"/>
                </a:solidFill>
                <a:latin typeface="Arial Unicode MS" pitchFamily="34" charset="-120"/>
                <a:ea typeface="文鼎黑體B" pitchFamily="34" charset="-120"/>
                <a:cs typeface="文鼎黑體B" pitchFamily="34" charset="-120"/>
              </a:defRPr>
            </a:lvl1pPr>
          </a:lstStyle>
          <a:p>
            <a:endParaRPr lang="zh-TW" altLang="en-US" sz="2000">
              <a:latin typeface="Verdan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228BE75-2F3B-4D1B-ACB3-76A708A3B9DF}"/>
              </a:ext>
            </a:extLst>
          </p:cNvPr>
          <p:cNvSpPr txBox="1">
            <a:spLocks/>
          </p:cNvSpPr>
          <p:nvPr/>
        </p:nvSpPr>
        <p:spPr>
          <a:xfrm>
            <a:off x="238366" y="179065"/>
            <a:ext cx="7416800" cy="4944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baseline="0">
                <a:solidFill>
                  <a:srgbClr val="333372"/>
                </a:solidFill>
                <a:latin typeface="Arial Unicode MS" pitchFamily="34" charset="-120"/>
                <a:ea typeface="文鼎黑體B" pitchFamily="34" charset="-120"/>
                <a:cs typeface="文鼎黑體B" pitchFamily="34" charset="-120"/>
              </a:defRPr>
            </a:lvl1pPr>
          </a:lstStyle>
          <a:p>
            <a:r>
              <a:rPr lang="zh-TW" altLang="en-US" sz="2400" dirty="0"/>
              <a:t>二</a:t>
            </a:r>
            <a:r>
              <a:rPr lang="zh-TW" altLang="en-US" sz="2400" i="1" dirty="0"/>
              <a:t> </a:t>
            </a:r>
            <a:r>
              <a:rPr lang="en-US" altLang="zh-TW" sz="2400" i="1" dirty="0"/>
              <a:t>,</a:t>
            </a:r>
            <a:r>
              <a:rPr lang="en-US" altLang="zh-TW" sz="2400" i="1" u="sng" dirty="0"/>
              <a:t>BP  Forecast  --  URI</a:t>
            </a:r>
            <a:r>
              <a:rPr lang="zh-TW" altLang="en-US" sz="2400" i="1" u="sng" dirty="0"/>
              <a:t> </a:t>
            </a:r>
            <a:r>
              <a:rPr lang="en-US" altLang="zh-TW" sz="2400" i="1" u="sng" dirty="0"/>
              <a:t>Qty </a:t>
            </a:r>
            <a:r>
              <a:rPr lang="zh-TW" altLang="en-US" sz="2400" i="1" u="sng" dirty="0"/>
              <a:t>（</a:t>
            </a:r>
            <a:r>
              <a:rPr lang="en-US" altLang="zh-TW" sz="2400" i="1" u="sng" dirty="0"/>
              <a:t>Forecast)</a:t>
            </a:r>
            <a:r>
              <a:rPr lang="en-GB" altLang="zh-TW" sz="2400" dirty="0"/>
              <a:t> </a:t>
            </a:r>
            <a:endParaRPr lang="zh-TW" altLang="en-US" sz="2400" dirty="0">
              <a:latin typeface="Verdana" panose="020B0604030504040204" pitchFamily="34" charset="0"/>
              <a:ea typeface="新細明體" panose="02020500000000000000" pitchFamily="18" charset="-120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120124EC-B606-EB90-D2F0-DCCC72EE1F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7847551"/>
              </p:ext>
            </p:extLst>
          </p:nvPr>
        </p:nvGraphicFramePr>
        <p:xfrm>
          <a:off x="0" y="4714407"/>
          <a:ext cx="9144001" cy="1091255"/>
        </p:xfrm>
        <a:graphic>
          <a:graphicData uri="http://schemas.openxmlformats.org/drawingml/2006/table">
            <a:tbl>
              <a:tblPr/>
              <a:tblGrid>
                <a:gridCol w="6797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99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34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27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14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71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011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775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854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8543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8543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8543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91475"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Date</a:t>
                      </a:r>
                      <a:endParaRPr lang="zh-TW" altLang="zh-TW" sz="10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663" marR="5663" marT="5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000" b="1" i="0" u="none" strike="noStrike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HP</a:t>
                      </a:r>
                      <a:endParaRPr lang="zh-TW" altLang="en-US" sz="1000" b="1" i="0" u="none" strike="noStrike">
                        <a:solidFill>
                          <a:srgbClr val="FFFFFF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5663" marR="5663" marT="5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000" b="1" i="0" u="none" strike="noStrike" err="1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Dept</a:t>
                      </a:r>
                      <a:endParaRPr lang="zh-TW" altLang="en-US" sz="1000" b="1" i="0" u="none" strike="noStrike">
                        <a:solidFill>
                          <a:srgbClr val="FFFFFF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5663" marR="5663" marT="5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000" b="1" i="0" u="none" strike="noStrike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Products</a:t>
                      </a:r>
                      <a:endParaRPr lang="zh-TW" altLang="en-US" sz="1000" b="1" i="0" u="none" strike="noStrike">
                        <a:solidFill>
                          <a:srgbClr val="FFFFFF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5663" marR="5663" marT="5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  </a:t>
                      </a:r>
                      <a:r>
                        <a:rPr lang="en-US" altLang="zh-TW" sz="1000" b="1" i="0" u="none" strike="noStrike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Type</a:t>
                      </a:r>
                      <a:endParaRPr lang="zh-TW" altLang="en-US" sz="1000" b="1" i="0" u="none" strike="noStrike">
                        <a:solidFill>
                          <a:srgbClr val="FFFFFF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5663" marR="5663" marT="5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Speaker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5663" marR="5663" marT="5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Expense</a:t>
                      </a:r>
                    </a:p>
                    <a:p>
                      <a:pPr algn="ctr" rtl="0" fontAlgn="ctr"/>
                      <a:r>
                        <a:rPr lang="zh-TW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（</a:t>
                      </a:r>
                      <a:r>
                        <a:rPr lang="en-US" altLang="zh-TW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NTD)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5663" marR="5663" marT="5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i="0" u="none" strike="noStrike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Customers</a:t>
                      </a:r>
                      <a:endParaRPr lang="zh-TW" altLang="en-US" sz="1000" b="1" i="0" u="none" strike="noStrike">
                        <a:solidFill>
                          <a:srgbClr val="FFFFFF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5663" marR="5663" marT="5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Purpose</a:t>
                      </a:r>
                      <a:r>
                        <a:rPr lang="zh-TW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 （</a:t>
                      </a:r>
                      <a:r>
                        <a:rPr lang="en-US" altLang="zh-TW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KPI):</a:t>
                      </a:r>
                      <a:r>
                        <a:rPr lang="zh-TW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預估</a:t>
                      </a:r>
                      <a:r>
                        <a:rPr lang="en-US" altLang="zh-TW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3</a:t>
                      </a:r>
                      <a:r>
                        <a:rPr lang="zh-TW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個月的達成業績（</a:t>
                      </a:r>
                      <a:r>
                        <a:rPr lang="en-US" altLang="zh-TW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Qty</a:t>
                      </a:r>
                      <a:r>
                        <a:rPr lang="zh-TW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與費審會申請單上相同</a:t>
                      </a:r>
                      <a:r>
                        <a:rPr lang="en-US" altLang="zh-TW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)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5663" marR="5663" marT="5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zh-TW" altLang="en-US" sz="1000" b="1" i="0" u="none" strike="noStrike">
                        <a:solidFill>
                          <a:srgbClr val="FFFFFF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5663" marR="5663" marT="5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zh-TW" altLang="en-US" sz="1000" b="1" i="0" u="none" strike="noStrike">
                        <a:solidFill>
                          <a:srgbClr val="FFFFFF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5663" marR="5663" marT="5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zh-TW" altLang="en-US" sz="1000" b="1" i="0" u="none" strike="noStrike">
                        <a:solidFill>
                          <a:srgbClr val="FFFFFF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5663" marR="5663" marT="5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502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200" b="0" i="0" u="none" strike="noStrike" kern="1200">
                        <a:solidFill>
                          <a:srgbClr val="FF0000"/>
                        </a:solidFill>
                        <a:effectLst/>
                        <a:latin typeface="+mn-lt"/>
                        <a:ea typeface="微軟正黑體" pitchFamily="34" charset="-120"/>
                        <a:cs typeface="+mn-cs"/>
                      </a:endParaRPr>
                    </a:p>
                  </a:txBody>
                  <a:tcPr marL="5663" marR="5663" marT="5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第</a:t>
                      </a:r>
                      <a:r>
                        <a:rPr lang="en-US" altLang="zh-TW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1</a:t>
                      </a:r>
                      <a:r>
                        <a:rPr lang="zh-TW" altLang="en-US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個月</a:t>
                      </a:r>
                    </a:p>
                  </a:txBody>
                  <a:tcPr marL="5663" marR="5663" marT="5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第</a:t>
                      </a:r>
                      <a:r>
                        <a:rPr lang="en-US" altLang="zh-TW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2</a:t>
                      </a:r>
                      <a:r>
                        <a:rPr lang="zh-TW" altLang="en-US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個月</a:t>
                      </a:r>
                    </a:p>
                  </a:txBody>
                  <a:tcPr marL="5663" marR="5663" marT="5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第</a:t>
                      </a:r>
                      <a:r>
                        <a:rPr lang="en-US" altLang="zh-TW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3</a:t>
                      </a:r>
                      <a:r>
                        <a:rPr lang="zh-TW" altLang="en-US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個月</a:t>
                      </a:r>
                    </a:p>
                  </a:txBody>
                  <a:tcPr marL="5663" marR="5663" marT="5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45">
                <a:tc rowSpan="2"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TW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7/17</a:t>
                      </a:r>
                      <a:endParaRPr lang="zh-TW" alt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itchFamily="34" charset="-120"/>
                        <a:cs typeface="+mn-cs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zh-TW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新光</a:t>
                      </a:r>
                      <a:r>
                        <a:rPr lang="en-US" altLang="zh-TW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/</a:t>
                      </a:r>
                      <a:r>
                        <a:rPr lang="zh-TW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北慈</a:t>
                      </a:r>
                      <a:r>
                        <a:rPr lang="en-US" altLang="zh-TW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/</a:t>
                      </a:r>
                    </a:p>
                    <a:p>
                      <a:pPr marL="0" algn="ctr" defTabSz="685800" rtl="0" eaLnBrk="1" fontAlgn="ctr" latinLnBrk="0" hangingPunct="1"/>
                      <a:r>
                        <a:rPr lang="zh-TW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耕莘</a:t>
                      </a: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URO</a:t>
                      </a:r>
                      <a:endParaRPr lang="zh-TW" alt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itchFamily="34" charset="-120"/>
                        <a:cs typeface="+mn-cs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URI</a:t>
                      </a: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RTD</a:t>
                      </a: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李秉叡</a:t>
                      </a: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TW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35,000</a:t>
                      </a: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10</a:t>
                      </a:r>
                      <a:r>
                        <a:rPr lang="zh-TW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位</a:t>
                      </a:r>
                      <a:endParaRPr lang="en-US" altLang="zh-TW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itchFamily="34" charset="-120"/>
                        <a:cs typeface="+mn-cs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預估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  </a:t>
                      </a:r>
                      <a:r>
                        <a:rPr lang="en-US" altLang="zh-TW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16,800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zh-TW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25,200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  </a:t>
                      </a:r>
                      <a:r>
                        <a:rPr lang="en-US" altLang="zh-TW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16,800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45">
                <a:tc vMerge="1">
                  <a:txBody>
                    <a:bodyPr/>
                    <a:lstStyle/>
                    <a:p>
                      <a:pPr marL="0" algn="ctr" defTabSz="685800" rtl="0" eaLnBrk="1" latinLnBrk="0" hangingPunct="1"/>
                      <a:endParaRPr lang="zh-TW" altLang="en-US" sz="1000" kern="1200">
                        <a:solidFill>
                          <a:schemeClr val="tx1"/>
                        </a:solidFill>
                        <a:latin typeface="+mn-lt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5663" marR="5663" marT="5663" marB="0" anchor="ctr"/>
                </a:tc>
                <a:tc vMerge="1"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endParaRPr lang="zh-TW" altLang="en-US" sz="1000" b="0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itchFamily="34" charset="-120"/>
                        <a:cs typeface="+mn-cs"/>
                      </a:endParaRPr>
                    </a:p>
                  </a:txBody>
                  <a:tcPr marL="5663" marR="5663" marT="5663" marB="0"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itchFamily="34" charset="-120"/>
                        <a:cs typeface="+mn-cs"/>
                      </a:endParaRPr>
                    </a:p>
                  </a:txBody>
                  <a:tcPr marL="5663" marR="5663" marT="5663" marB="0"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00" b="0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itchFamily="34" charset="-120"/>
                        <a:cs typeface="+mn-cs"/>
                      </a:endParaRPr>
                    </a:p>
                  </a:txBody>
                  <a:tcPr marL="5663" marR="5663" marT="5663" marB="0"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endParaRPr lang="zh-TW" altLang="en-US" sz="1000" b="0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itchFamily="34" charset="-120"/>
                        <a:cs typeface="+mn-cs"/>
                      </a:endParaRPr>
                    </a:p>
                  </a:txBody>
                  <a:tcPr marL="5663" marR="5663" marT="5663" marB="0"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實際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16,800</a:t>
                      </a:r>
                      <a:endParaRPr lang="zh-TW" alt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8400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25200</a:t>
                      </a:r>
                      <a:endParaRPr lang="zh-TW" alt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02BA4DF-DF31-47D7-89DB-E0BBED8C1F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700618"/>
              </p:ext>
            </p:extLst>
          </p:nvPr>
        </p:nvGraphicFramePr>
        <p:xfrm>
          <a:off x="-2" y="730816"/>
          <a:ext cx="9144002" cy="3815030"/>
        </p:xfrm>
        <a:graphic>
          <a:graphicData uri="http://schemas.openxmlformats.org/drawingml/2006/table">
            <a:tbl>
              <a:tblPr bandRow="1"/>
              <a:tblGrid>
                <a:gridCol w="618838">
                  <a:extLst>
                    <a:ext uri="{9D8B030D-6E8A-4147-A177-3AD203B41FA5}">
                      <a16:colId xmlns:a16="http://schemas.microsoft.com/office/drawing/2014/main" val="177810329"/>
                    </a:ext>
                  </a:extLst>
                </a:gridCol>
                <a:gridCol w="570866">
                  <a:extLst>
                    <a:ext uri="{9D8B030D-6E8A-4147-A177-3AD203B41FA5}">
                      <a16:colId xmlns:a16="http://schemas.microsoft.com/office/drawing/2014/main" val="1580297760"/>
                    </a:ext>
                  </a:extLst>
                </a:gridCol>
                <a:gridCol w="599768">
                  <a:extLst>
                    <a:ext uri="{9D8B030D-6E8A-4147-A177-3AD203B41FA5}">
                      <a16:colId xmlns:a16="http://schemas.microsoft.com/office/drawing/2014/main" val="3037370004"/>
                    </a:ext>
                  </a:extLst>
                </a:gridCol>
                <a:gridCol w="589936">
                  <a:extLst>
                    <a:ext uri="{9D8B030D-6E8A-4147-A177-3AD203B41FA5}">
                      <a16:colId xmlns:a16="http://schemas.microsoft.com/office/drawing/2014/main" val="3452123626"/>
                    </a:ext>
                  </a:extLst>
                </a:gridCol>
                <a:gridCol w="570271">
                  <a:extLst>
                    <a:ext uri="{9D8B030D-6E8A-4147-A177-3AD203B41FA5}">
                      <a16:colId xmlns:a16="http://schemas.microsoft.com/office/drawing/2014/main" val="385040621"/>
                    </a:ext>
                  </a:extLst>
                </a:gridCol>
                <a:gridCol w="570271">
                  <a:extLst>
                    <a:ext uri="{9D8B030D-6E8A-4147-A177-3AD203B41FA5}">
                      <a16:colId xmlns:a16="http://schemas.microsoft.com/office/drawing/2014/main" val="3577020143"/>
                    </a:ext>
                  </a:extLst>
                </a:gridCol>
                <a:gridCol w="570271">
                  <a:extLst>
                    <a:ext uri="{9D8B030D-6E8A-4147-A177-3AD203B41FA5}">
                      <a16:colId xmlns:a16="http://schemas.microsoft.com/office/drawing/2014/main" val="1113670503"/>
                    </a:ext>
                  </a:extLst>
                </a:gridCol>
                <a:gridCol w="570271">
                  <a:extLst>
                    <a:ext uri="{9D8B030D-6E8A-4147-A177-3AD203B41FA5}">
                      <a16:colId xmlns:a16="http://schemas.microsoft.com/office/drawing/2014/main" val="2709310672"/>
                    </a:ext>
                  </a:extLst>
                </a:gridCol>
                <a:gridCol w="570271">
                  <a:extLst>
                    <a:ext uri="{9D8B030D-6E8A-4147-A177-3AD203B41FA5}">
                      <a16:colId xmlns:a16="http://schemas.microsoft.com/office/drawing/2014/main" val="2352707592"/>
                    </a:ext>
                  </a:extLst>
                </a:gridCol>
                <a:gridCol w="570271">
                  <a:extLst>
                    <a:ext uri="{9D8B030D-6E8A-4147-A177-3AD203B41FA5}">
                      <a16:colId xmlns:a16="http://schemas.microsoft.com/office/drawing/2014/main" val="2018753715"/>
                    </a:ext>
                  </a:extLst>
                </a:gridCol>
                <a:gridCol w="570271">
                  <a:extLst>
                    <a:ext uri="{9D8B030D-6E8A-4147-A177-3AD203B41FA5}">
                      <a16:colId xmlns:a16="http://schemas.microsoft.com/office/drawing/2014/main" val="3580613460"/>
                    </a:ext>
                  </a:extLst>
                </a:gridCol>
                <a:gridCol w="570271">
                  <a:extLst>
                    <a:ext uri="{9D8B030D-6E8A-4147-A177-3AD203B41FA5}">
                      <a16:colId xmlns:a16="http://schemas.microsoft.com/office/drawing/2014/main" val="1315885687"/>
                    </a:ext>
                  </a:extLst>
                </a:gridCol>
                <a:gridCol w="570271">
                  <a:extLst>
                    <a:ext uri="{9D8B030D-6E8A-4147-A177-3AD203B41FA5}">
                      <a16:colId xmlns:a16="http://schemas.microsoft.com/office/drawing/2014/main" val="1280552128"/>
                    </a:ext>
                  </a:extLst>
                </a:gridCol>
                <a:gridCol w="570271">
                  <a:extLst>
                    <a:ext uri="{9D8B030D-6E8A-4147-A177-3AD203B41FA5}">
                      <a16:colId xmlns:a16="http://schemas.microsoft.com/office/drawing/2014/main" val="3018258636"/>
                    </a:ext>
                  </a:extLst>
                </a:gridCol>
                <a:gridCol w="550606">
                  <a:extLst>
                    <a:ext uri="{9D8B030D-6E8A-4147-A177-3AD203B41FA5}">
                      <a16:colId xmlns:a16="http://schemas.microsoft.com/office/drawing/2014/main" val="4252354396"/>
                    </a:ext>
                  </a:extLst>
                </a:gridCol>
                <a:gridCol w="511278">
                  <a:extLst>
                    <a:ext uri="{9D8B030D-6E8A-4147-A177-3AD203B41FA5}">
                      <a16:colId xmlns:a16="http://schemas.microsoft.com/office/drawing/2014/main" val="1931490232"/>
                    </a:ext>
                  </a:extLst>
                </a:gridCol>
              </a:tblGrid>
              <a:tr h="73338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醫院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200" b="1" i="0" u="none" strike="noStrike" dirty="0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URI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Jan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Feb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Mar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Apr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May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Jun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Jul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Aug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Sep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Oct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Nov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Dec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YTD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Actual vs. LY G.R.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0040926"/>
                  </a:ext>
                </a:extLst>
              </a:tr>
              <a:tr h="248977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新光醫院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2025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16,800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16,800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16,800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25,200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16,800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16,800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16,800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8,400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25,200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8,400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16,800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16,800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201,600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92,400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9046021"/>
                  </a:ext>
                </a:extLst>
              </a:tr>
              <a:tr h="24897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25,200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16,800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25,200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25,200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92,400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-11.1%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1484416"/>
                  </a:ext>
                </a:extLst>
              </a:tr>
              <a:tr h="248977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慈濟醫院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25,200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11,200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33,600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22,400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22,400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22,400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33,600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11,200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28,000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24,920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23,240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17,640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275,800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114,800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90004"/>
                  </a:ext>
                </a:extLst>
              </a:tr>
              <a:tr h="24897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50,400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28,000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22,400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22,400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     </a:t>
                      </a:r>
                      <a:r>
                        <a:rPr lang="en-US" altLang="zh-TW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123,200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9.1%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739007"/>
                  </a:ext>
                </a:extLst>
              </a:tr>
              <a:tr h="248977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耕莘台北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16,800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11,200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11,200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11,200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11,200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11,200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11,200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5,600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22,400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11,200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11,200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11,200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145,600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61,600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4549713"/>
                  </a:ext>
                </a:extLst>
              </a:tr>
              <a:tr h="24897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16,800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11,200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11,200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11,200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50,400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-22.2%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2768066"/>
                  </a:ext>
                </a:extLst>
              </a:tr>
              <a:tr h="248977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安康耕莘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8,400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2,800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5,600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5,600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5,600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5,600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5,600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8,400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5,600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5,600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2,800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5,600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67,200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28,000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4081436"/>
                  </a:ext>
                </a:extLst>
              </a:tr>
              <a:tr h="24897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11,200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2,800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2,800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5,600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5,600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28,000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970959"/>
                  </a:ext>
                </a:extLst>
              </a:tr>
              <a:tr h="248977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永和耕莘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11,200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15,400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7,000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11,200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8,400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16,800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7,000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14,000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7,000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16,800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8,400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12,600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135,800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53,200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4809097"/>
                  </a:ext>
                </a:extLst>
              </a:tr>
              <a:tr h="24897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19,600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8,400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25,200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12,600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65,800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465403"/>
                  </a:ext>
                </a:extLst>
              </a:tr>
              <a:tr h="248977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耕莘診所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560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1,400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1,960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560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6311934"/>
                  </a:ext>
                </a:extLst>
              </a:tr>
              <a:tr h="24897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-100%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834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6008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C7F614D0-D488-405A-9198-A9A1D03E84D4}"/>
              </a:ext>
            </a:extLst>
          </p:cNvPr>
          <p:cNvSpPr txBox="1">
            <a:spLocks/>
          </p:cNvSpPr>
          <p:nvPr/>
        </p:nvSpPr>
        <p:spPr>
          <a:xfrm>
            <a:off x="80537" y="620688"/>
            <a:ext cx="7416800" cy="4944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baseline="0">
                <a:solidFill>
                  <a:srgbClr val="333372"/>
                </a:solidFill>
                <a:latin typeface="Arial Unicode MS" pitchFamily="34" charset="-120"/>
                <a:ea typeface="文鼎黑體B" pitchFamily="34" charset="-120"/>
                <a:cs typeface="文鼎黑體B" pitchFamily="34" charset="-120"/>
              </a:defRPr>
            </a:lvl1pPr>
          </a:lstStyle>
          <a:p>
            <a:endParaRPr lang="zh-TW" altLang="en-US" sz="2000">
              <a:latin typeface="Verdan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228BE75-2F3B-4D1B-ACB3-76A708A3B9DF}"/>
              </a:ext>
            </a:extLst>
          </p:cNvPr>
          <p:cNvSpPr txBox="1">
            <a:spLocks/>
          </p:cNvSpPr>
          <p:nvPr/>
        </p:nvSpPr>
        <p:spPr>
          <a:xfrm>
            <a:off x="238366" y="179065"/>
            <a:ext cx="7416800" cy="4944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baseline="0">
                <a:solidFill>
                  <a:srgbClr val="333372"/>
                </a:solidFill>
                <a:latin typeface="Arial Unicode MS" pitchFamily="34" charset="-120"/>
                <a:ea typeface="文鼎黑體B" pitchFamily="34" charset="-120"/>
                <a:cs typeface="文鼎黑體B" pitchFamily="34" charset="-120"/>
              </a:defRPr>
            </a:lvl1pPr>
          </a:lstStyle>
          <a:p>
            <a:r>
              <a:rPr lang="zh-TW" altLang="en-US" sz="2400" dirty="0"/>
              <a:t>二</a:t>
            </a:r>
            <a:r>
              <a:rPr lang="zh-TW" altLang="en-US" sz="2400" i="1" dirty="0"/>
              <a:t> </a:t>
            </a:r>
            <a:r>
              <a:rPr lang="en-US" altLang="zh-TW" sz="2400" i="1" dirty="0"/>
              <a:t>,</a:t>
            </a:r>
            <a:r>
              <a:rPr lang="en-US" altLang="zh-TW" sz="2400" i="1" u="sng" dirty="0"/>
              <a:t>BP  Forecast  --  OXB Qty </a:t>
            </a:r>
            <a:r>
              <a:rPr lang="zh-TW" altLang="en-US" sz="2400" i="1" u="sng" dirty="0"/>
              <a:t>（</a:t>
            </a:r>
            <a:r>
              <a:rPr lang="en-US" altLang="zh-TW" sz="2400" i="1" u="sng" dirty="0"/>
              <a:t>Forecast)</a:t>
            </a:r>
            <a:r>
              <a:rPr lang="en-GB" altLang="zh-TW" sz="2400" dirty="0"/>
              <a:t> </a:t>
            </a:r>
            <a:endParaRPr lang="zh-TW" altLang="en-US" sz="2400" dirty="0">
              <a:latin typeface="Verdana" panose="020B0604030504040204" pitchFamily="34" charset="0"/>
              <a:ea typeface="新細明體" panose="02020500000000000000" pitchFamily="18" charset="-12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24E6082A-CFE8-FB94-3AE1-399353A385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7622246"/>
              </p:ext>
            </p:extLst>
          </p:nvPr>
        </p:nvGraphicFramePr>
        <p:xfrm>
          <a:off x="0" y="4183612"/>
          <a:ext cx="9168064" cy="2309997"/>
        </p:xfrm>
        <a:graphic>
          <a:graphicData uri="http://schemas.openxmlformats.org/drawingml/2006/table">
            <a:tbl>
              <a:tblPr/>
              <a:tblGrid>
                <a:gridCol w="6815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19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53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71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17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96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28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99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8697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8697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8697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8697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90399"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Date</a:t>
                      </a:r>
                      <a:endParaRPr lang="zh-TW" altLang="zh-TW" sz="10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663" marR="5663" marT="5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000" b="1" i="0" u="none" strike="noStrike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HP</a:t>
                      </a:r>
                      <a:endParaRPr lang="zh-TW" altLang="en-US" sz="1000" b="1" i="0" u="none" strike="noStrike">
                        <a:solidFill>
                          <a:srgbClr val="FFFFFF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5663" marR="5663" marT="5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000" b="1" i="0" u="none" strike="noStrike" err="1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Dept</a:t>
                      </a:r>
                      <a:endParaRPr lang="zh-TW" altLang="en-US" sz="1000" b="1" i="0" u="none" strike="noStrike">
                        <a:solidFill>
                          <a:srgbClr val="FFFFFF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5663" marR="5663" marT="5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000" b="1" i="0" u="none" strike="noStrike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Products</a:t>
                      </a:r>
                      <a:endParaRPr lang="zh-TW" altLang="en-US" sz="1000" b="1" i="0" u="none" strike="noStrike">
                        <a:solidFill>
                          <a:srgbClr val="FFFFFF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5663" marR="5663" marT="5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  </a:t>
                      </a:r>
                      <a:r>
                        <a:rPr lang="en-US" altLang="zh-TW" sz="1000" b="1" i="0" u="none" strike="noStrike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Type</a:t>
                      </a:r>
                      <a:endParaRPr lang="zh-TW" altLang="en-US" sz="1000" b="1" i="0" u="none" strike="noStrike">
                        <a:solidFill>
                          <a:srgbClr val="FFFFFF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5663" marR="5663" marT="5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Speaker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5663" marR="5663" marT="5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Expense</a:t>
                      </a:r>
                    </a:p>
                    <a:p>
                      <a:pPr algn="ctr" rtl="0" fontAlgn="ctr"/>
                      <a:r>
                        <a:rPr lang="zh-TW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（</a:t>
                      </a:r>
                      <a:r>
                        <a:rPr lang="en-US" altLang="zh-TW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NTD)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5663" marR="5663" marT="5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i="0" u="none" strike="noStrike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Customers</a:t>
                      </a:r>
                      <a:endParaRPr lang="zh-TW" altLang="en-US" sz="1000" b="1" i="0" u="none" strike="noStrike">
                        <a:solidFill>
                          <a:srgbClr val="FFFFFF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5663" marR="5663" marT="5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Purpose</a:t>
                      </a:r>
                      <a:r>
                        <a:rPr lang="zh-TW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 （</a:t>
                      </a:r>
                      <a:r>
                        <a:rPr lang="en-US" altLang="zh-TW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KPI):</a:t>
                      </a:r>
                      <a:r>
                        <a:rPr lang="zh-TW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預估</a:t>
                      </a:r>
                      <a:r>
                        <a:rPr lang="en-US" altLang="zh-TW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3</a:t>
                      </a:r>
                      <a:r>
                        <a:rPr lang="zh-TW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個月的達成業績（</a:t>
                      </a:r>
                      <a:r>
                        <a:rPr lang="en-US" altLang="zh-TW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Qty</a:t>
                      </a:r>
                      <a:r>
                        <a:rPr lang="zh-TW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與費審會申請單上相同</a:t>
                      </a:r>
                      <a:r>
                        <a:rPr lang="en-US" altLang="zh-TW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)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5663" marR="5663" marT="5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zh-TW" altLang="en-US" sz="1000" b="1" i="0" u="none" strike="noStrike">
                        <a:solidFill>
                          <a:srgbClr val="FFFFFF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5663" marR="5663" marT="5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zh-TW" altLang="en-US" sz="1000" b="1" i="0" u="none" strike="noStrike">
                        <a:solidFill>
                          <a:srgbClr val="FFFFFF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5663" marR="5663" marT="5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zh-TW" altLang="en-US" sz="1000" b="1" i="0" u="none" strike="noStrike">
                        <a:solidFill>
                          <a:srgbClr val="FFFFFF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5663" marR="5663" marT="5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08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0" i="0" u="none" strike="noStrike" kern="1200">
                        <a:solidFill>
                          <a:srgbClr val="FF0000"/>
                        </a:solidFill>
                        <a:effectLst/>
                        <a:latin typeface="+mn-lt"/>
                        <a:ea typeface="微軟正黑體" pitchFamily="34" charset="-120"/>
                        <a:cs typeface="+mn-cs"/>
                      </a:endParaRPr>
                    </a:p>
                  </a:txBody>
                  <a:tcPr marL="5663" marR="5663" marT="5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第</a:t>
                      </a:r>
                      <a:r>
                        <a:rPr lang="en-US" altLang="zh-TW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1</a:t>
                      </a:r>
                      <a:r>
                        <a:rPr lang="zh-TW" altLang="en-US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個月</a:t>
                      </a:r>
                    </a:p>
                  </a:txBody>
                  <a:tcPr marL="5663" marR="5663" marT="5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第</a:t>
                      </a:r>
                      <a:r>
                        <a:rPr lang="en-US" altLang="zh-TW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2</a:t>
                      </a:r>
                      <a:r>
                        <a:rPr lang="zh-TW" altLang="en-US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個月</a:t>
                      </a:r>
                    </a:p>
                  </a:txBody>
                  <a:tcPr marL="5663" marR="5663" marT="5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第</a:t>
                      </a:r>
                      <a:r>
                        <a:rPr lang="en-US" altLang="zh-TW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3</a:t>
                      </a:r>
                      <a:r>
                        <a:rPr lang="zh-TW" altLang="en-US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個月</a:t>
                      </a:r>
                    </a:p>
                  </a:txBody>
                  <a:tcPr marL="5663" marR="5663" marT="5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209"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12/1</a:t>
                      </a: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zh-TW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新光</a:t>
                      </a:r>
                      <a:endParaRPr lang="en-US" altLang="zh-TW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TW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URO</a:t>
                      </a:r>
                      <a:endParaRPr lang="zh-TW" alt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TW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OXB</a:t>
                      </a:r>
                      <a:endParaRPr 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Lecture</a:t>
                      </a: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zh-TW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李秉叡</a:t>
                      </a: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15,750</a:t>
                      </a: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TW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28</a:t>
                      </a:r>
                      <a:r>
                        <a:rPr lang="zh-TW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人</a:t>
                      </a:r>
                      <a:endParaRPr lang="en-US" altLang="zh-TW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預估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14000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11200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14000</a:t>
                      </a: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1209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實際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</a:rPr>
                        <a:t>11,200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25,200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209"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12/3</a:t>
                      </a: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zh-TW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永耕</a:t>
                      </a:r>
                      <a:endParaRPr lang="en-US" altLang="zh-TW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TW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OBS</a:t>
                      </a:r>
                      <a:endParaRPr lang="zh-TW" alt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TW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OXB</a:t>
                      </a:r>
                      <a:r>
                        <a:rPr lang="zh-TW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／</a:t>
                      </a:r>
                      <a:r>
                        <a:rPr lang="en-US" altLang="zh-TW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LMN</a:t>
                      </a:r>
                      <a:endParaRPr 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Lecture</a:t>
                      </a: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zh-TW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李維</a:t>
                      </a: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8,750</a:t>
                      </a:r>
                      <a:endParaRPr lang="zh-TW" alt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15</a:t>
                      </a:r>
                      <a:r>
                        <a:rPr lang="zh-TW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人</a:t>
                      </a:r>
                      <a:endParaRPr lang="en-US" altLang="zh-TW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預估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3360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4480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3920</a:t>
                      </a: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667850"/>
                  </a:ext>
                </a:extLst>
              </a:tr>
              <a:tr h="289628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實際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5600</a:t>
                      </a:r>
                      <a:endParaRPr lang="zh-TW" alt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19600</a:t>
                      </a: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5600</a:t>
                      </a: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1590498"/>
                  </a:ext>
                </a:extLst>
              </a:tr>
              <a:tr h="289628"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12/4</a:t>
                      </a: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zh-TW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新光</a:t>
                      </a:r>
                      <a:endParaRPr lang="en-US" altLang="zh-TW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TW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OBS</a:t>
                      </a:r>
                      <a:endParaRPr lang="zh-TW" alt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TW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OXB</a:t>
                      </a:r>
                      <a:endParaRPr 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Lecture</a:t>
                      </a: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zh-TW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台大吳晉睿</a:t>
                      </a: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18,750</a:t>
                      </a:r>
                      <a:endParaRPr lang="zh-TW" alt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35</a:t>
                      </a:r>
                      <a:r>
                        <a:rPr lang="zh-TW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人</a:t>
                      </a:r>
                      <a:endParaRPr lang="en-US" altLang="zh-TW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預估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14000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11200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14000</a:t>
                      </a: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9998943"/>
                  </a:ext>
                </a:extLst>
              </a:tr>
              <a:tr h="289628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實際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</a:rPr>
                        <a:t>11,200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25200</a:t>
                      </a: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0</a:t>
                      </a: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9018370"/>
                  </a:ext>
                </a:extLst>
              </a:tr>
            </a:tbl>
          </a:graphicData>
        </a:graphic>
      </p:graphicFrame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722B700E-DF56-41AB-A36F-BFC34E4B91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7871373"/>
              </p:ext>
            </p:extLst>
          </p:nvPr>
        </p:nvGraphicFramePr>
        <p:xfrm>
          <a:off x="0" y="932164"/>
          <a:ext cx="9143999" cy="2992830"/>
        </p:xfrm>
        <a:graphic>
          <a:graphicData uri="http://schemas.openxmlformats.org/drawingml/2006/table">
            <a:tbl>
              <a:tblPr/>
              <a:tblGrid>
                <a:gridCol w="528381">
                  <a:extLst>
                    <a:ext uri="{9D8B030D-6E8A-4147-A177-3AD203B41FA5}">
                      <a16:colId xmlns:a16="http://schemas.microsoft.com/office/drawing/2014/main" val="3109207028"/>
                    </a:ext>
                  </a:extLst>
                </a:gridCol>
                <a:gridCol w="389613">
                  <a:extLst>
                    <a:ext uri="{9D8B030D-6E8A-4147-A177-3AD203B41FA5}">
                      <a16:colId xmlns:a16="http://schemas.microsoft.com/office/drawing/2014/main" val="1666556492"/>
                    </a:ext>
                  </a:extLst>
                </a:gridCol>
                <a:gridCol w="618381">
                  <a:extLst>
                    <a:ext uri="{9D8B030D-6E8A-4147-A177-3AD203B41FA5}">
                      <a16:colId xmlns:a16="http://schemas.microsoft.com/office/drawing/2014/main" val="2502940938"/>
                    </a:ext>
                  </a:extLst>
                </a:gridCol>
                <a:gridCol w="618381">
                  <a:extLst>
                    <a:ext uri="{9D8B030D-6E8A-4147-A177-3AD203B41FA5}">
                      <a16:colId xmlns:a16="http://schemas.microsoft.com/office/drawing/2014/main" val="9415475"/>
                    </a:ext>
                  </a:extLst>
                </a:gridCol>
                <a:gridCol w="618381">
                  <a:extLst>
                    <a:ext uri="{9D8B030D-6E8A-4147-A177-3AD203B41FA5}">
                      <a16:colId xmlns:a16="http://schemas.microsoft.com/office/drawing/2014/main" val="3692039206"/>
                    </a:ext>
                  </a:extLst>
                </a:gridCol>
                <a:gridCol w="618381">
                  <a:extLst>
                    <a:ext uri="{9D8B030D-6E8A-4147-A177-3AD203B41FA5}">
                      <a16:colId xmlns:a16="http://schemas.microsoft.com/office/drawing/2014/main" val="2430158825"/>
                    </a:ext>
                  </a:extLst>
                </a:gridCol>
                <a:gridCol w="618381">
                  <a:extLst>
                    <a:ext uri="{9D8B030D-6E8A-4147-A177-3AD203B41FA5}">
                      <a16:colId xmlns:a16="http://schemas.microsoft.com/office/drawing/2014/main" val="1167885748"/>
                    </a:ext>
                  </a:extLst>
                </a:gridCol>
                <a:gridCol w="618381">
                  <a:extLst>
                    <a:ext uri="{9D8B030D-6E8A-4147-A177-3AD203B41FA5}">
                      <a16:colId xmlns:a16="http://schemas.microsoft.com/office/drawing/2014/main" val="2513286201"/>
                    </a:ext>
                  </a:extLst>
                </a:gridCol>
                <a:gridCol w="618381">
                  <a:extLst>
                    <a:ext uri="{9D8B030D-6E8A-4147-A177-3AD203B41FA5}">
                      <a16:colId xmlns:a16="http://schemas.microsoft.com/office/drawing/2014/main" val="2177449306"/>
                    </a:ext>
                  </a:extLst>
                </a:gridCol>
                <a:gridCol w="549674">
                  <a:extLst>
                    <a:ext uri="{9D8B030D-6E8A-4147-A177-3AD203B41FA5}">
                      <a16:colId xmlns:a16="http://schemas.microsoft.com/office/drawing/2014/main" val="4081003777"/>
                    </a:ext>
                  </a:extLst>
                </a:gridCol>
                <a:gridCol w="549674">
                  <a:extLst>
                    <a:ext uri="{9D8B030D-6E8A-4147-A177-3AD203B41FA5}">
                      <a16:colId xmlns:a16="http://schemas.microsoft.com/office/drawing/2014/main" val="2684666874"/>
                    </a:ext>
                  </a:extLst>
                </a:gridCol>
                <a:gridCol w="549674">
                  <a:extLst>
                    <a:ext uri="{9D8B030D-6E8A-4147-A177-3AD203B41FA5}">
                      <a16:colId xmlns:a16="http://schemas.microsoft.com/office/drawing/2014/main" val="648182395"/>
                    </a:ext>
                  </a:extLst>
                </a:gridCol>
                <a:gridCol w="549674">
                  <a:extLst>
                    <a:ext uri="{9D8B030D-6E8A-4147-A177-3AD203B41FA5}">
                      <a16:colId xmlns:a16="http://schemas.microsoft.com/office/drawing/2014/main" val="3296463216"/>
                    </a:ext>
                  </a:extLst>
                </a:gridCol>
                <a:gridCol w="618381">
                  <a:extLst>
                    <a:ext uri="{9D8B030D-6E8A-4147-A177-3AD203B41FA5}">
                      <a16:colId xmlns:a16="http://schemas.microsoft.com/office/drawing/2014/main" val="587625183"/>
                    </a:ext>
                  </a:extLst>
                </a:gridCol>
                <a:gridCol w="579667">
                  <a:extLst>
                    <a:ext uri="{9D8B030D-6E8A-4147-A177-3AD203B41FA5}">
                      <a16:colId xmlns:a16="http://schemas.microsoft.com/office/drawing/2014/main" val="3949514120"/>
                    </a:ext>
                  </a:extLst>
                </a:gridCol>
                <a:gridCol w="500594">
                  <a:extLst>
                    <a:ext uri="{9D8B030D-6E8A-4147-A177-3AD203B41FA5}">
                      <a16:colId xmlns:a16="http://schemas.microsoft.com/office/drawing/2014/main" val="2024030470"/>
                    </a:ext>
                  </a:extLst>
                </a:gridCol>
              </a:tblGrid>
              <a:tr h="44405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醫院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200" b="1" i="0" u="none" strike="noStrike" dirty="0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OXB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Jan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Feb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Mar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Apr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May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Jun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Jul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Aug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Sep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Oct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Nov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Dec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YTD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Actual vs. LY G.R.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6650623"/>
                  </a:ext>
                </a:extLst>
              </a:tr>
              <a:tr h="252801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新光醫院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+mn-cs"/>
                        </a:rPr>
                        <a:t>16,800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+mn-cs"/>
                        </a:rPr>
                        <a:t>5,600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11,200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11,200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5,600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11,200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5,600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11,200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5,600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5,600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11,200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11,200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106,400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44,800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1751044"/>
                  </a:ext>
                </a:extLst>
              </a:tr>
              <a:tr h="252801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+mn-cs"/>
                        </a:rPr>
                        <a:t>25,200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+mn-cs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11,200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11,200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11,200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44,800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-14.3%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023383"/>
                  </a:ext>
                </a:extLst>
              </a:tr>
              <a:tr h="252801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慈濟醫院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+mn-cs"/>
                        </a:rPr>
                        <a:t>25,200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+mn-cs"/>
                        </a:rPr>
                        <a:t>8,400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8,400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8,400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4,200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8,400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8,400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6,440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8,960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8,960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6,720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6,720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95,200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40,600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504359"/>
                  </a:ext>
                </a:extLst>
              </a:tr>
              <a:tr h="252801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+mn-cs"/>
                        </a:rPr>
                        <a:t>50,400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+mn-cs"/>
                        </a:rPr>
                        <a:t>2,240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8,960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8,960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8,960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42,520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-7.8%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6742802"/>
                  </a:ext>
                </a:extLst>
              </a:tr>
              <a:tr h="252801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耕莘台北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+mn-cs"/>
                        </a:rPr>
                        <a:t>16,800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+mn-cs"/>
                        </a:rPr>
                        <a:t>2,240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3,920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3,360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2,240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3,360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2,240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2,240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2,240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2,240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2,240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2,240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29,120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12,320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1421376"/>
                  </a:ext>
                </a:extLst>
              </a:tr>
              <a:tr h="252801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+mn-cs"/>
                        </a:rPr>
                        <a:t>16,800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+mn-cs"/>
                        </a:rPr>
                        <a:t>3,360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7,280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2,800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3,360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20,160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66.7%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401152"/>
                  </a:ext>
                </a:extLst>
              </a:tr>
              <a:tr h="252801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安康耕莘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+mn-cs"/>
                        </a:rPr>
                        <a:t>8,400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+mn-cs"/>
                        </a:rPr>
                        <a:t>560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1680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1,120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1,120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1,120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2,240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1,120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1,120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1,120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11,760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5,040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6913839"/>
                  </a:ext>
                </a:extLst>
              </a:tr>
              <a:tr h="252801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+mn-cs"/>
                        </a:rPr>
                        <a:t>11,200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+mn-cs"/>
                        </a:rPr>
                        <a:t>1,120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1,120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1,120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1,120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6,160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4841354"/>
                  </a:ext>
                </a:extLst>
              </a:tr>
              <a:tr h="252801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永和耕莘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+mn-cs"/>
                        </a:rPr>
                        <a:t>11,200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+mn-cs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2,800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5,600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4,200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2,800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2,800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2,800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4,200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5,600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30,800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8,400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0004560"/>
                  </a:ext>
                </a:extLst>
              </a:tr>
              <a:tr h="252801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+mn-cs"/>
                        </a:rPr>
                        <a:t>19,600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+mn-cs"/>
                        </a:rPr>
                        <a:t>5,600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7,000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4,200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2,800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22,400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600%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928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214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C7F614D0-D488-405A-9198-A9A1D03E84D4}"/>
              </a:ext>
            </a:extLst>
          </p:cNvPr>
          <p:cNvSpPr txBox="1">
            <a:spLocks/>
          </p:cNvSpPr>
          <p:nvPr/>
        </p:nvSpPr>
        <p:spPr>
          <a:xfrm>
            <a:off x="80537" y="620688"/>
            <a:ext cx="7416800" cy="4944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baseline="0">
                <a:solidFill>
                  <a:srgbClr val="333372"/>
                </a:solidFill>
                <a:latin typeface="Arial Unicode MS" pitchFamily="34" charset="-120"/>
                <a:ea typeface="文鼎黑體B" pitchFamily="34" charset="-120"/>
                <a:cs typeface="文鼎黑體B" pitchFamily="34" charset="-120"/>
              </a:defRPr>
            </a:lvl1pPr>
          </a:lstStyle>
          <a:p>
            <a:endParaRPr lang="zh-TW" altLang="en-US" sz="2000">
              <a:latin typeface="Verdan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228BE75-2F3B-4D1B-ACB3-76A708A3B9DF}"/>
              </a:ext>
            </a:extLst>
          </p:cNvPr>
          <p:cNvSpPr txBox="1">
            <a:spLocks/>
          </p:cNvSpPr>
          <p:nvPr/>
        </p:nvSpPr>
        <p:spPr>
          <a:xfrm>
            <a:off x="238366" y="179065"/>
            <a:ext cx="7416800" cy="4944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baseline="0">
                <a:solidFill>
                  <a:srgbClr val="333372"/>
                </a:solidFill>
                <a:latin typeface="Arial Unicode MS" pitchFamily="34" charset="-120"/>
                <a:ea typeface="文鼎黑體B" pitchFamily="34" charset="-120"/>
                <a:cs typeface="文鼎黑體B" pitchFamily="34" charset="-120"/>
              </a:defRPr>
            </a:lvl1pPr>
          </a:lstStyle>
          <a:p>
            <a:r>
              <a:rPr lang="zh-TW" altLang="en-US" sz="2400" dirty="0"/>
              <a:t>二</a:t>
            </a:r>
            <a:r>
              <a:rPr lang="zh-TW" altLang="en-US" sz="2400" i="1" dirty="0"/>
              <a:t> </a:t>
            </a:r>
            <a:r>
              <a:rPr lang="en-US" altLang="zh-TW" sz="2400" i="1" dirty="0"/>
              <a:t>,</a:t>
            </a:r>
            <a:r>
              <a:rPr lang="en-US" altLang="zh-TW" sz="2400" i="1" u="sng" dirty="0"/>
              <a:t>BP  Forecast  --  Eli Qty </a:t>
            </a:r>
            <a:r>
              <a:rPr lang="zh-TW" altLang="en-US" sz="2400" i="1" u="sng" dirty="0"/>
              <a:t>（</a:t>
            </a:r>
            <a:r>
              <a:rPr lang="en-US" altLang="zh-TW" sz="2400" i="1" u="sng" dirty="0"/>
              <a:t>Forecast)</a:t>
            </a:r>
            <a:r>
              <a:rPr lang="en-GB" altLang="zh-TW" sz="2400" dirty="0"/>
              <a:t> </a:t>
            </a:r>
            <a:endParaRPr lang="zh-TW" altLang="en-US" sz="2400" dirty="0">
              <a:latin typeface="Verdana" panose="020B0604030504040204" pitchFamily="34" charset="0"/>
              <a:ea typeface="新細明體" panose="02020500000000000000" pitchFamily="18" charset="-12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50EADA4-DC7D-4FC9-A58A-27EEFB7672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110425"/>
              </p:ext>
            </p:extLst>
          </p:nvPr>
        </p:nvGraphicFramePr>
        <p:xfrm>
          <a:off x="-1" y="815207"/>
          <a:ext cx="9144000" cy="3079466"/>
        </p:xfrm>
        <a:graphic>
          <a:graphicData uri="http://schemas.openxmlformats.org/drawingml/2006/table">
            <a:tbl>
              <a:tblPr/>
              <a:tblGrid>
                <a:gridCol w="582421">
                  <a:extLst>
                    <a:ext uri="{9D8B030D-6E8A-4147-A177-3AD203B41FA5}">
                      <a16:colId xmlns:a16="http://schemas.microsoft.com/office/drawing/2014/main" val="1797135609"/>
                    </a:ext>
                  </a:extLst>
                </a:gridCol>
                <a:gridCol w="592128">
                  <a:extLst>
                    <a:ext uri="{9D8B030D-6E8A-4147-A177-3AD203B41FA5}">
                      <a16:colId xmlns:a16="http://schemas.microsoft.com/office/drawing/2014/main" val="3738615321"/>
                    </a:ext>
                  </a:extLst>
                </a:gridCol>
                <a:gridCol w="592128">
                  <a:extLst>
                    <a:ext uri="{9D8B030D-6E8A-4147-A177-3AD203B41FA5}">
                      <a16:colId xmlns:a16="http://schemas.microsoft.com/office/drawing/2014/main" val="2353005401"/>
                    </a:ext>
                  </a:extLst>
                </a:gridCol>
                <a:gridCol w="582421">
                  <a:extLst>
                    <a:ext uri="{9D8B030D-6E8A-4147-A177-3AD203B41FA5}">
                      <a16:colId xmlns:a16="http://schemas.microsoft.com/office/drawing/2014/main" val="4041754036"/>
                    </a:ext>
                  </a:extLst>
                </a:gridCol>
                <a:gridCol w="563006">
                  <a:extLst>
                    <a:ext uri="{9D8B030D-6E8A-4147-A177-3AD203B41FA5}">
                      <a16:colId xmlns:a16="http://schemas.microsoft.com/office/drawing/2014/main" val="3473655340"/>
                    </a:ext>
                  </a:extLst>
                </a:gridCol>
                <a:gridCol w="563006">
                  <a:extLst>
                    <a:ext uri="{9D8B030D-6E8A-4147-A177-3AD203B41FA5}">
                      <a16:colId xmlns:a16="http://schemas.microsoft.com/office/drawing/2014/main" val="678758852"/>
                    </a:ext>
                  </a:extLst>
                </a:gridCol>
                <a:gridCol w="563006">
                  <a:extLst>
                    <a:ext uri="{9D8B030D-6E8A-4147-A177-3AD203B41FA5}">
                      <a16:colId xmlns:a16="http://schemas.microsoft.com/office/drawing/2014/main" val="1601935154"/>
                    </a:ext>
                  </a:extLst>
                </a:gridCol>
                <a:gridCol w="563006">
                  <a:extLst>
                    <a:ext uri="{9D8B030D-6E8A-4147-A177-3AD203B41FA5}">
                      <a16:colId xmlns:a16="http://schemas.microsoft.com/office/drawing/2014/main" val="1650916911"/>
                    </a:ext>
                  </a:extLst>
                </a:gridCol>
                <a:gridCol w="563006">
                  <a:extLst>
                    <a:ext uri="{9D8B030D-6E8A-4147-A177-3AD203B41FA5}">
                      <a16:colId xmlns:a16="http://schemas.microsoft.com/office/drawing/2014/main" val="909806280"/>
                    </a:ext>
                  </a:extLst>
                </a:gridCol>
                <a:gridCol w="563006">
                  <a:extLst>
                    <a:ext uri="{9D8B030D-6E8A-4147-A177-3AD203B41FA5}">
                      <a16:colId xmlns:a16="http://schemas.microsoft.com/office/drawing/2014/main" val="133931682"/>
                    </a:ext>
                  </a:extLst>
                </a:gridCol>
                <a:gridCol w="575192">
                  <a:extLst>
                    <a:ext uri="{9D8B030D-6E8A-4147-A177-3AD203B41FA5}">
                      <a16:colId xmlns:a16="http://schemas.microsoft.com/office/drawing/2014/main" val="2704186179"/>
                    </a:ext>
                  </a:extLst>
                </a:gridCol>
                <a:gridCol w="550820">
                  <a:extLst>
                    <a:ext uri="{9D8B030D-6E8A-4147-A177-3AD203B41FA5}">
                      <a16:colId xmlns:a16="http://schemas.microsoft.com/office/drawing/2014/main" val="4206099018"/>
                    </a:ext>
                  </a:extLst>
                </a:gridCol>
                <a:gridCol w="563006">
                  <a:extLst>
                    <a:ext uri="{9D8B030D-6E8A-4147-A177-3AD203B41FA5}">
                      <a16:colId xmlns:a16="http://schemas.microsoft.com/office/drawing/2014/main" val="1117897324"/>
                    </a:ext>
                  </a:extLst>
                </a:gridCol>
                <a:gridCol w="563006">
                  <a:extLst>
                    <a:ext uri="{9D8B030D-6E8A-4147-A177-3AD203B41FA5}">
                      <a16:colId xmlns:a16="http://schemas.microsoft.com/office/drawing/2014/main" val="8871350"/>
                    </a:ext>
                  </a:extLst>
                </a:gridCol>
                <a:gridCol w="582421">
                  <a:extLst>
                    <a:ext uri="{9D8B030D-6E8A-4147-A177-3AD203B41FA5}">
                      <a16:colId xmlns:a16="http://schemas.microsoft.com/office/drawing/2014/main" val="3644129124"/>
                    </a:ext>
                  </a:extLst>
                </a:gridCol>
                <a:gridCol w="582421">
                  <a:extLst>
                    <a:ext uri="{9D8B030D-6E8A-4147-A177-3AD203B41FA5}">
                      <a16:colId xmlns:a16="http://schemas.microsoft.com/office/drawing/2014/main" val="272389931"/>
                    </a:ext>
                  </a:extLst>
                </a:gridCol>
              </a:tblGrid>
              <a:tr h="54253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醫院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200" b="1" i="0" u="none" strike="noStrike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ELI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Jan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Feb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Mar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Apr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May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Jun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Jul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Aug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Sep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Oct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Nov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Dec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YTD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Est. vsLY G.R.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5306831"/>
                  </a:ext>
                </a:extLst>
              </a:tr>
              <a:tr h="251059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新光</a:t>
                      </a:r>
                      <a:b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7.5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2025 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30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20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30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30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20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20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20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30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20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20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30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20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290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130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7916003"/>
                  </a:ext>
                </a:extLst>
              </a:tr>
              <a:tr h="251059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2026 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30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40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30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ED7D3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20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ED7D3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20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140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9.1%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2904532"/>
                  </a:ext>
                </a:extLst>
              </a:tr>
              <a:tr h="251059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新光</a:t>
                      </a:r>
                      <a:b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22.5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2025 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15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15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30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15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10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35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15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15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30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25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30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15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250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85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7588115"/>
                  </a:ext>
                </a:extLst>
              </a:tr>
              <a:tr h="251059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2026 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45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15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15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ED7D3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30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ED7D3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20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125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40.0%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5976099"/>
                  </a:ext>
                </a:extLst>
              </a:tr>
              <a:tr h="251059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慈濟</a:t>
                      </a:r>
                      <a:b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22.5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2025 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35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60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45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45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45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45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45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25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56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36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36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72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545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230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27859"/>
                  </a:ext>
                </a:extLst>
              </a:tr>
              <a:tr h="251059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2026 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39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30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60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ED7D3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36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ED7D3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48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213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-10.8%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8924908"/>
                  </a:ext>
                </a:extLst>
              </a:tr>
              <a:tr h="251059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耕莘</a:t>
                      </a:r>
                      <a:b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22.5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2025 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12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6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6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10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8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10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6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6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9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6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12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8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99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42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8672647"/>
                  </a:ext>
                </a:extLst>
              </a:tr>
              <a:tr h="27739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2026 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20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9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12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ED7D3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11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ED7D3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12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64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53%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4269356"/>
                  </a:ext>
                </a:extLst>
              </a:tr>
              <a:tr h="251059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安康</a:t>
                      </a:r>
                      <a:b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22.5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2025 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5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4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3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2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2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2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2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2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22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12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955735"/>
                  </a:ext>
                </a:extLst>
              </a:tr>
              <a:tr h="251059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2026 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7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2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ED7D3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4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4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17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8%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1387834"/>
                  </a:ext>
                </a:extLst>
              </a:tr>
            </a:tbl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9634350"/>
              </p:ext>
            </p:extLst>
          </p:nvPr>
        </p:nvGraphicFramePr>
        <p:xfrm>
          <a:off x="0" y="4036334"/>
          <a:ext cx="9144001" cy="2532106"/>
        </p:xfrm>
        <a:graphic>
          <a:graphicData uri="http://schemas.openxmlformats.org/drawingml/2006/table">
            <a:tbl>
              <a:tblPr/>
              <a:tblGrid>
                <a:gridCol w="6797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99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3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21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81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03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078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775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854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8543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8543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8543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20903"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Date</a:t>
                      </a:r>
                      <a:endParaRPr lang="zh-TW" altLang="zh-TW" sz="10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663" marR="5663" marT="5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000" b="1" i="0" u="none" strike="noStrike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HP</a:t>
                      </a:r>
                      <a:endParaRPr lang="zh-TW" altLang="en-US" sz="1000" b="1" i="0" u="none" strike="noStrike">
                        <a:solidFill>
                          <a:srgbClr val="FFFFFF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5663" marR="5663" marT="5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000" b="1" i="0" u="none" strike="noStrike" err="1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Dept</a:t>
                      </a:r>
                      <a:endParaRPr lang="zh-TW" altLang="en-US" sz="1000" b="1" i="0" u="none" strike="noStrike">
                        <a:solidFill>
                          <a:srgbClr val="FFFFFF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5663" marR="5663" marT="5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000" b="1" i="0" u="none" strike="noStrike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Products</a:t>
                      </a:r>
                      <a:endParaRPr lang="zh-TW" altLang="en-US" sz="1000" b="1" i="0" u="none" strike="noStrike">
                        <a:solidFill>
                          <a:srgbClr val="FFFFFF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5663" marR="5663" marT="5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  </a:t>
                      </a:r>
                      <a:r>
                        <a:rPr lang="en-US" altLang="zh-TW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Type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5663" marR="5663" marT="5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Speaker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5663" marR="5663" marT="5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Expense</a:t>
                      </a:r>
                    </a:p>
                    <a:p>
                      <a:pPr algn="ctr" rtl="0" fontAlgn="ctr"/>
                      <a:r>
                        <a:rPr lang="zh-TW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（</a:t>
                      </a:r>
                      <a:r>
                        <a:rPr lang="en-US" altLang="zh-TW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NTD)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5663" marR="5663" marT="5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Customers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5663" marR="5663" marT="5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Purpose</a:t>
                      </a:r>
                      <a:r>
                        <a:rPr lang="zh-TW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 （</a:t>
                      </a:r>
                      <a:r>
                        <a:rPr lang="en-US" altLang="zh-TW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KPI):</a:t>
                      </a:r>
                      <a:r>
                        <a:rPr lang="zh-TW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預估</a:t>
                      </a:r>
                      <a:r>
                        <a:rPr lang="en-US" altLang="zh-TW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3</a:t>
                      </a:r>
                      <a:r>
                        <a:rPr lang="zh-TW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個月的達成業績（</a:t>
                      </a:r>
                      <a:r>
                        <a:rPr lang="en-US" altLang="zh-TW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Qty</a:t>
                      </a:r>
                      <a:r>
                        <a:rPr lang="zh-TW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與費審會申請單上相同</a:t>
                      </a:r>
                      <a:r>
                        <a:rPr lang="en-US" altLang="zh-TW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)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5663" marR="5663" marT="5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zh-TW" altLang="en-US" sz="1000" b="1" i="0" u="none" strike="noStrike">
                        <a:solidFill>
                          <a:srgbClr val="FFFFFF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5663" marR="5663" marT="5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zh-TW" altLang="en-US" sz="1000" b="1" i="0" u="none" strike="noStrike">
                        <a:solidFill>
                          <a:srgbClr val="FFFFFF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5663" marR="5663" marT="5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zh-TW" altLang="en-US" sz="1000" b="1" i="0" u="none" strike="noStrike">
                        <a:solidFill>
                          <a:srgbClr val="FFFFFF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5663" marR="5663" marT="5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883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200" b="0" i="0" u="none" strike="noStrike" kern="1200">
                        <a:solidFill>
                          <a:srgbClr val="FF0000"/>
                        </a:solidFill>
                        <a:effectLst/>
                        <a:latin typeface="+mn-lt"/>
                        <a:ea typeface="微軟正黑體" pitchFamily="34" charset="-120"/>
                        <a:cs typeface="+mn-cs"/>
                      </a:endParaRPr>
                    </a:p>
                  </a:txBody>
                  <a:tcPr marL="5663" marR="5663" marT="5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第</a:t>
                      </a:r>
                      <a:r>
                        <a:rPr lang="en-US" altLang="zh-TW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1</a:t>
                      </a:r>
                      <a:r>
                        <a:rPr lang="zh-TW" altLang="en-US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個月</a:t>
                      </a:r>
                    </a:p>
                  </a:txBody>
                  <a:tcPr marL="5663" marR="5663" marT="5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第</a:t>
                      </a:r>
                      <a:r>
                        <a:rPr lang="en-US" altLang="zh-TW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2</a:t>
                      </a:r>
                      <a:r>
                        <a:rPr lang="zh-TW" altLang="en-US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個月</a:t>
                      </a:r>
                    </a:p>
                  </a:txBody>
                  <a:tcPr marL="5663" marR="5663" marT="5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第</a:t>
                      </a:r>
                      <a:r>
                        <a:rPr lang="en-US" altLang="zh-TW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3</a:t>
                      </a:r>
                      <a:r>
                        <a:rPr lang="zh-TW" altLang="en-US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個月</a:t>
                      </a:r>
                    </a:p>
                  </a:txBody>
                  <a:tcPr marL="5663" marR="5663" marT="5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40">
                <a:tc rowSpan="2"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11/12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latin typeface="+mn-lt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zh-TW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耕莘</a:t>
                      </a: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微軟正黑體" pitchFamily="34" charset="-120"/>
                          <a:cs typeface="+mn-cs"/>
                        </a:rPr>
                        <a:t>URO</a:t>
                      </a:r>
                      <a:endParaRPr lang="zh-TW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itchFamily="34" charset="-120"/>
                        <a:cs typeface="+mn-cs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微軟正黑體" pitchFamily="34" charset="-120"/>
                          <a:cs typeface="+mn-cs"/>
                        </a:rPr>
                        <a:t>ELI</a:t>
                      </a: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Lecture</a:t>
                      </a:r>
                      <a:endParaRPr kumimoji="0" lang="en-US" altLang="zh-TW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微軟正黑體" pitchFamily="34" charset="-120"/>
                        <a:cs typeface="+mn-cs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zh-TW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姜秉均</a:t>
                      </a: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16,250</a:t>
                      </a:r>
                      <a:endParaRPr kumimoji="0" lang="zh-TW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微軟正黑體" panose="020B0604030504040204" pitchFamily="34" charset="-120"/>
                          <a:cs typeface="+mn-cs"/>
                        </a:rPr>
                        <a:t>25</a:t>
                      </a: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人</a:t>
                      </a:r>
                      <a:endParaRPr kumimoji="0" lang="zh-TW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預估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10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12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14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04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0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itchFamily="34" charset="-120"/>
                        <a:cs typeface="+mn-cs"/>
                      </a:endParaRPr>
                    </a:p>
                  </a:txBody>
                  <a:tcPr marL="5663" marR="5663" marT="5663" marB="0"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00" b="0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itchFamily="34" charset="-120"/>
                        <a:cs typeface="+mn-cs"/>
                      </a:endParaRPr>
                    </a:p>
                  </a:txBody>
                  <a:tcPr marL="5663" marR="5663" marT="5663" marB="0"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實際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14</a:t>
                      </a:r>
                      <a:endParaRPr lang="zh-TW" alt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10</a:t>
                      </a: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27</a:t>
                      </a:r>
                      <a:endParaRPr lang="zh-TW" alt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040">
                <a:tc rowSpan="2"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11/28</a:t>
                      </a: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慈濟</a:t>
                      </a: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微軟正黑體" pitchFamily="34" charset="-120"/>
                          <a:cs typeface="+mn-cs"/>
                        </a:rPr>
                        <a:t>URO</a:t>
                      </a:r>
                      <a:endParaRPr lang="zh-TW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itchFamily="34" charset="-120"/>
                        <a:cs typeface="+mn-cs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微軟正黑體" pitchFamily="34" charset="-120"/>
                          <a:cs typeface="+mn-cs"/>
                        </a:rPr>
                        <a:t>ELI</a:t>
                      </a: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Lecture</a:t>
                      </a:r>
                      <a:endParaRPr kumimoji="0" lang="en-US" altLang="zh-TW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微軟正黑體" pitchFamily="34" charset="-120"/>
                        <a:cs typeface="+mn-cs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游智欽</a:t>
                      </a:r>
                      <a:endParaRPr kumimoji="0" lang="zh-TW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15,000</a:t>
                      </a:r>
                      <a:endParaRPr kumimoji="0" lang="zh-TW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微軟正黑體" panose="020B0604030504040204" pitchFamily="34" charset="-120"/>
                          <a:cs typeface="+mn-cs"/>
                        </a:rPr>
                        <a:t>20</a:t>
                      </a: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微軟正黑體" panose="020B0604030504040204" pitchFamily="34" charset="-120"/>
                          <a:cs typeface="+mn-cs"/>
                        </a:rPr>
                        <a:t>人</a:t>
                      </a: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預估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48</a:t>
                      </a:r>
                      <a:endParaRPr lang="zh-TW" alt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48</a:t>
                      </a:r>
                      <a:endParaRPr lang="zh-TW" alt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itchFamily="34" charset="-120"/>
                        <a:cs typeface="+mn-cs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50</a:t>
                      </a:r>
                      <a:endParaRPr lang="zh-TW" alt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itchFamily="34" charset="-120"/>
                        <a:cs typeface="+mn-cs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04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實際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36</a:t>
                      </a:r>
                      <a:endParaRPr lang="zh-TW" alt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72</a:t>
                      </a:r>
                      <a:endParaRPr lang="zh-TW" alt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itchFamily="34" charset="-120"/>
                        <a:cs typeface="+mn-cs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39</a:t>
                      </a:r>
                      <a:endParaRPr lang="zh-TW" alt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itchFamily="34" charset="-120"/>
                        <a:cs typeface="+mn-cs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040">
                <a:tc rowSpan="2"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12/12</a:t>
                      </a: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國泰</a:t>
                      </a:r>
                      <a:r>
                        <a:rPr lang="en-US" altLang="zh-TW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/</a:t>
                      </a:r>
                      <a:r>
                        <a:rPr lang="zh-TW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耕莘</a:t>
                      </a: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URO</a:t>
                      </a:r>
                      <a:endParaRPr lang="zh-TW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itchFamily="34" charset="-120"/>
                        <a:cs typeface="+mn-cs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微軟正黑體" pitchFamily="34" charset="-120"/>
                          <a:cs typeface="+mn-cs"/>
                        </a:rPr>
                        <a:t>ELI</a:t>
                      </a:r>
                      <a:endParaRPr kumimoji="0" lang="en-US" altLang="zh-TW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微軟正黑體" pitchFamily="34" charset="-120"/>
                        <a:cs typeface="+mn-cs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微軟正黑體" pitchFamily="34" charset="-120"/>
                          <a:cs typeface="+mn-cs"/>
                        </a:rPr>
                        <a:t>RTD</a:t>
                      </a: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彭崇信</a:t>
                      </a:r>
                      <a:endParaRPr kumimoji="0" lang="zh-TW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微軟正黑體" panose="020B0604030504040204" pitchFamily="34" charset="-120"/>
                          <a:cs typeface="+mn-cs"/>
                        </a:rPr>
                        <a:t>40,000</a:t>
                      </a:r>
                      <a:endParaRPr kumimoji="0" lang="zh-TW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微軟正黑體" panose="020B0604030504040204" pitchFamily="34" charset="-120"/>
                          <a:cs typeface="+mn-cs"/>
                        </a:rPr>
                        <a:t>10</a:t>
                      </a: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微軟正黑體" panose="020B0604030504040204" pitchFamily="34" charset="-120"/>
                          <a:cs typeface="+mn-cs"/>
                        </a:rPr>
                        <a:t>人</a:t>
                      </a: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預估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10</a:t>
                      </a:r>
                      <a:endParaRPr lang="zh-TW" alt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12</a:t>
                      </a:r>
                      <a:endParaRPr lang="zh-TW" alt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itchFamily="34" charset="-120"/>
                        <a:cs typeface="+mn-cs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10</a:t>
                      </a:r>
                      <a:endParaRPr lang="zh-TW" alt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itchFamily="34" charset="-120"/>
                        <a:cs typeface="+mn-cs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36159"/>
                  </a:ext>
                </a:extLst>
              </a:tr>
              <a:tr h="25204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實際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10</a:t>
                      </a:r>
                      <a:endParaRPr lang="zh-TW" alt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27</a:t>
                      </a:r>
                      <a:endParaRPr lang="zh-TW" alt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itchFamily="34" charset="-120"/>
                        <a:cs typeface="+mn-cs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11</a:t>
                      </a:r>
                      <a:endParaRPr lang="zh-TW" alt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itchFamily="34" charset="-120"/>
                        <a:cs typeface="+mn-cs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2378408"/>
                  </a:ext>
                </a:extLst>
              </a:tr>
              <a:tr h="252040">
                <a:tc rowSpan="2"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5/20</a:t>
                      </a: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耕莘</a:t>
                      </a: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URO</a:t>
                      </a:r>
                      <a:endParaRPr lang="zh-TW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itchFamily="34" charset="-120"/>
                        <a:cs typeface="+mn-cs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微軟正黑體" pitchFamily="34" charset="-120"/>
                          <a:cs typeface="+mn-cs"/>
                        </a:rPr>
                        <a:t>ELI</a:t>
                      </a:r>
                      <a:endParaRPr kumimoji="0" lang="en-US" altLang="zh-TW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微軟正黑體" pitchFamily="34" charset="-120"/>
                        <a:cs typeface="+mn-cs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微軟正黑體" pitchFamily="34" charset="-120"/>
                          <a:cs typeface="+mn-cs"/>
                        </a:rPr>
                        <a:t>RTD</a:t>
                      </a: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姜秉均</a:t>
                      </a:r>
                      <a:endParaRPr kumimoji="0" lang="zh-TW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微軟正黑體" panose="020B0604030504040204" pitchFamily="34" charset="-120"/>
                          <a:cs typeface="+mn-cs"/>
                        </a:rPr>
                        <a:t>40,000</a:t>
                      </a:r>
                      <a:endParaRPr kumimoji="0" lang="zh-TW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微軟正黑體" panose="020B0604030504040204" pitchFamily="34" charset="-120"/>
                          <a:cs typeface="+mn-cs"/>
                        </a:rPr>
                        <a:t>10</a:t>
                      </a: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微軟正黑體" panose="020B0604030504040204" pitchFamily="34" charset="-120"/>
                          <a:cs typeface="+mn-cs"/>
                        </a:rPr>
                        <a:t>人</a:t>
                      </a: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預估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15</a:t>
                      </a:r>
                      <a:endParaRPr lang="zh-TW" alt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15</a:t>
                      </a:r>
                      <a:endParaRPr lang="zh-TW" alt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itchFamily="34" charset="-120"/>
                        <a:cs typeface="+mn-cs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15</a:t>
                      </a:r>
                      <a:endParaRPr lang="zh-TW" alt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itchFamily="34" charset="-120"/>
                        <a:cs typeface="+mn-cs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38020"/>
                  </a:ext>
                </a:extLst>
              </a:tr>
              <a:tr h="25204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實際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itchFamily="34" charset="-120"/>
                        <a:cs typeface="+mn-cs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itchFamily="34" charset="-120"/>
                        <a:cs typeface="+mn-cs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26387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1932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標題 1"/>
          <p:cNvSpPr>
            <a:spLocks noGrp="1"/>
          </p:cNvSpPr>
          <p:nvPr>
            <p:ph type="title"/>
          </p:nvPr>
        </p:nvSpPr>
        <p:spPr>
          <a:xfrm>
            <a:off x="323528" y="476672"/>
            <a:ext cx="7416800" cy="369887"/>
          </a:xfrm>
        </p:spPr>
        <p:txBody>
          <a:bodyPr>
            <a:normAutofit/>
          </a:bodyPr>
          <a:lstStyle/>
          <a:p>
            <a:r>
              <a:rPr lang="en-GB" altLang="zh-TW" sz="2000" b="1" i="1" u="sng" cap="all" dirty="0"/>
              <a:t>Key Business Issues and Strategies</a:t>
            </a:r>
            <a:r>
              <a:rPr lang="zh-TW" altLang="en-US" sz="2000" b="1" i="1" u="sng" cap="all" dirty="0"/>
              <a:t>（</a:t>
            </a:r>
            <a:r>
              <a:rPr lang="en-GB" altLang="zh-TW" sz="2000" b="1" i="1" u="sng" cap="all" dirty="0"/>
              <a:t>URO) </a:t>
            </a:r>
            <a:r>
              <a:rPr lang="en-GB" altLang="zh-TW" sz="2000" b="1" cap="all" dirty="0"/>
              <a:t> </a:t>
            </a:r>
            <a:endParaRPr lang="zh-TW" altLang="zh-TW" sz="2000" b="1" cap="all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738FF55-C714-4BA9-9B3A-16F2787F04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6385734"/>
              </p:ext>
            </p:extLst>
          </p:nvPr>
        </p:nvGraphicFramePr>
        <p:xfrm>
          <a:off x="0" y="836711"/>
          <a:ext cx="9144000" cy="5158740"/>
        </p:xfrm>
        <a:graphic>
          <a:graphicData uri="http://schemas.openxmlformats.org/drawingml/2006/table">
            <a:tbl>
              <a:tblPr/>
              <a:tblGrid>
                <a:gridCol w="11992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3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90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52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HP</a:t>
                      </a:r>
                      <a:endParaRPr kumimoji="0" lang="zh-TW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+mn-ea"/>
                        </a:rPr>
                        <a:t>Opportunity/Issue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+mn-ea"/>
                        </a:rPr>
                        <a:t>（機會點</a:t>
                      </a:r>
                      <a:r>
                        <a:rPr kumimoji="0" lang="en-US" altLang="zh-TW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+mn-ea"/>
                        </a:rPr>
                        <a:t>/</a:t>
                      </a:r>
                      <a:r>
                        <a:rPr kumimoji="0" lang="zh-TW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+mn-ea"/>
                        </a:rPr>
                        <a:t>問題點</a:t>
                      </a:r>
                      <a:r>
                        <a:rPr kumimoji="0" lang="en-US" altLang="zh-TW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+mn-ea"/>
                        </a:rPr>
                        <a:t>)</a:t>
                      </a:r>
                      <a:endParaRPr kumimoji="0" lang="zh-TW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charset="0"/>
                        <a:ea typeface="+mn-ea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Who</a:t>
                      </a:r>
                      <a:endParaRPr kumimoji="0" lang="zh-TW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Action plan</a:t>
                      </a:r>
                      <a:endParaRPr kumimoji="0" lang="zh-TW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7527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新光醫院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ELI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E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Issue: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Prostate cancer</a:t>
                      </a: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患者流失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競廠資源投資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E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蔡德甫、莊光達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何肇晏、李秉叡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何承勳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E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zh-TW" altLang="en-US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蔡德甫、莊光達 </a:t>
                      </a:r>
                      <a:r>
                        <a:rPr lang="en-US" altLang="zh-TW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：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1.</a:t>
                      </a:r>
                      <a:r>
                        <a:rPr lang="zh-TW" altLang="en-US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依劑型分類主要使用</a:t>
                      </a:r>
                      <a:r>
                        <a:rPr lang="en-US" altLang="zh-TW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Key User.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2.</a:t>
                      </a:r>
                      <a:r>
                        <a:rPr lang="zh-TW" altLang="en-US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以蔡德甫醫師為首</a:t>
                      </a:r>
                      <a:r>
                        <a:rPr lang="en-US" altLang="zh-TW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,</a:t>
                      </a:r>
                      <a:r>
                        <a:rPr lang="zh-TW" altLang="en-US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辦理學術活動資源投資</a:t>
                      </a:r>
                      <a:r>
                        <a:rPr lang="en-US" altLang="zh-TW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3.</a:t>
                      </a:r>
                      <a:r>
                        <a:rPr lang="zh-TW" altLang="en-US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使用競廠在</a:t>
                      </a:r>
                      <a:r>
                        <a:rPr lang="en-US" altLang="zh-TW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T</a:t>
                      </a:r>
                      <a:r>
                        <a:rPr lang="zh-TW" altLang="en-US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及</a:t>
                      </a:r>
                      <a:r>
                        <a:rPr lang="en-US" altLang="zh-TW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PSA</a:t>
                      </a:r>
                      <a:r>
                        <a:rPr lang="zh-TW" altLang="en-US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控制不佳患者改用</a:t>
                      </a:r>
                      <a:r>
                        <a:rPr lang="en-US" altLang="zh-TW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ELI.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altLang="zh-TW" sz="12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zh-TW" altLang="en-US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何肇晏：</a:t>
                      </a:r>
                      <a:endParaRPr lang="en-US" altLang="zh-TW" sz="12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zh-TW" altLang="en-US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家庭作為投資主軸</a:t>
                      </a:r>
                      <a:endParaRPr lang="en-US" altLang="zh-TW" sz="12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altLang="zh-TW" sz="12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zh-TW" altLang="en-US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何承勳：</a:t>
                      </a:r>
                      <a:endParaRPr lang="en-US" altLang="zh-TW" sz="12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zh-TW" altLang="en-US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藉由恭賀晉升教授名義投資辦理台大、雙和、輔大等醫院</a:t>
                      </a:r>
                      <a:r>
                        <a:rPr lang="en-US" altLang="zh-TW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,</a:t>
                      </a:r>
                      <a:r>
                        <a:rPr lang="zh-TW" altLang="en-US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跨院學術活動。</a:t>
                      </a:r>
                      <a:endParaRPr lang="en-US" altLang="zh-TW" sz="12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altLang="zh-TW" sz="12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7830760"/>
                  </a:ext>
                </a:extLst>
              </a:tr>
              <a:tr h="86120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新光醫院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慈濟醫院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耕莘醫院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ELI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E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學會、活動資源投資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E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慈濟：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蔡曜州、游智欽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李名偉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新光：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何承勳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耕莘：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廖俊厚、姜秉鈞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彭崇信、陳俞安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E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1.</a:t>
                      </a:r>
                      <a:r>
                        <a:rPr lang="zh-TW" altLang="en-US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強調</a:t>
                      </a:r>
                      <a:r>
                        <a:rPr lang="en-US" altLang="zh-TW" sz="1200" b="0" i="0" u="none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Eligard</a:t>
                      </a:r>
                      <a:r>
                        <a:rPr lang="en-US" altLang="zh-TW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TW" altLang="en-US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治療效果是相當於手術去勢療法，可提供穩定長時間抑制 </a:t>
                      </a:r>
                      <a:r>
                        <a:rPr lang="en-US" altLang="zh-TW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T </a:t>
                      </a:r>
                      <a:r>
                        <a:rPr lang="zh-TW" altLang="en-US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效果更趨近於零</a:t>
                      </a:r>
                      <a:r>
                        <a:rPr lang="en-US" altLang="zh-TW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,</a:t>
                      </a:r>
                      <a:r>
                        <a:rPr lang="zh-TW" altLang="en-US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且可以延緩晚期攝護腺癌的病人的</a:t>
                      </a:r>
                      <a:r>
                        <a:rPr lang="en-US" altLang="zh-TW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CRPC </a:t>
                      </a:r>
                      <a:r>
                        <a:rPr lang="zh-TW" altLang="en-US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達 </a:t>
                      </a:r>
                      <a:r>
                        <a:rPr lang="en-US" altLang="zh-TW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10 </a:t>
                      </a:r>
                      <a:r>
                        <a:rPr lang="zh-TW" altLang="en-US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年以上</a:t>
                      </a:r>
                      <a:r>
                        <a:rPr lang="en-US" altLang="zh-TW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2.</a:t>
                      </a:r>
                      <a:r>
                        <a:rPr lang="zh-TW" altLang="en-US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以各醫院 </a:t>
                      </a:r>
                      <a:r>
                        <a:rPr lang="en-US" altLang="zh-TW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Key User</a:t>
                      </a:r>
                      <a:r>
                        <a:rPr lang="zh-TW" altLang="en-US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為首</a:t>
                      </a:r>
                      <a:r>
                        <a:rPr lang="en-US" altLang="zh-TW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,</a:t>
                      </a:r>
                      <a:r>
                        <a:rPr lang="zh-TW" altLang="en-US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 辦理學術活動資源投資</a:t>
                      </a:r>
                      <a:r>
                        <a:rPr lang="en-US" altLang="zh-TW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3.</a:t>
                      </a:r>
                      <a:r>
                        <a:rPr lang="zh-TW" altLang="en-US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與醫師討論做</a:t>
                      </a:r>
                      <a:r>
                        <a:rPr lang="en-US" altLang="zh-TW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RT </a:t>
                      </a:r>
                      <a:r>
                        <a:rPr lang="en-US" altLang="zh-TW" sz="1200" b="0" i="0" u="none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p’t</a:t>
                      </a:r>
                      <a:r>
                        <a:rPr lang="en-US" altLang="zh-TW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TW" altLang="en-US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同時並用機會</a:t>
                      </a:r>
                      <a:r>
                        <a:rPr lang="en-US" altLang="zh-TW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4.</a:t>
                      </a:r>
                      <a:r>
                        <a:rPr lang="zh-TW" altLang="en-US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科內晨會活動投資，以</a:t>
                      </a: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游智欽使用經驗，進一步轉化更多客群。</a:t>
                      </a:r>
                      <a:endParaRPr lang="en-US" altLang="zh-TW" sz="12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118567"/>
                  </a:ext>
                </a:extLst>
              </a:tr>
              <a:tr h="704618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新光醫院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慈濟醫院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耕莘醫院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URI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E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新中生代具有處方機會的醫師</a:t>
                      </a:r>
                      <a:r>
                        <a:rPr lang="en-US" altLang="zh-TW" sz="12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,</a:t>
                      </a: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藉由分享使用經驗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E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李秉叡、 黃欣媚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趙梓辰、李名偉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林佑樺、陳俞安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E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1.</a:t>
                      </a:r>
                      <a:r>
                        <a:rPr lang="zh-TW" altLang="en-US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以台大受訓醫師及新中生代醫師為主</a:t>
                      </a:r>
                      <a:r>
                        <a:rPr lang="en-US" altLang="zh-TW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,</a:t>
                      </a:r>
                      <a:r>
                        <a:rPr lang="zh-TW" altLang="en-US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串聯跨院學術活動</a:t>
                      </a:r>
                      <a:r>
                        <a:rPr lang="en-US" altLang="zh-TW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,</a:t>
                      </a:r>
                      <a:r>
                        <a:rPr lang="zh-TW" altLang="en-US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分享他院使用經驗</a:t>
                      </a:r>
                      <a:r>
                        <a:rPr lang="en-US" altLang="zh-TW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2.</a:t>
                      </a:r>
                      <a:r>
                        <a:rPr lang="zh-TW" altLang="en-US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藉</a:t>
                      </a:r>
                      <a:r>
                        <a:rPr lang="en-US" altLang="zh-TW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URI</a:t>
                      </a:r>
                      <a:r>
                        <a:rPr lang="zh-TW" altLang="en-US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學術活動，提升年輕醫師對於</a:t>
                      </a:r>
                      <a:r>
                        <a:rPr lang="en-US" altLang="zh-TW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URI</a:t>
                      </a:r>
                      <a:r>
                        <a:rPr lang="zh-TW" altLang="en-US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作為</a:t>
                      </a:r>
                      <a:r>
                        <a:rPr lang="en-US" altLang="zh-TW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BPH</a:t>
                      </a:r>
                      <a:r>
                        <a:rPr lang="zh-TW" altLang="en-US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第一線用藥的認同，同時帶動合併使用</a:t>
                      </a:r>
                      <a:r>
                        <a:rPr lang="en-US" altLang="zh-TW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OXB.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59231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9410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21FF1-A589-95B8-156C-24E6BB396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標題 1">
            <a:extLst>
              <a:ext uri="{FF2B5EF4-FFF2-40B4-BE49-F238E27FC236}">
                <a16:creationId xmlns:a16="http://schemas.microsoft.com/office/drawing/2014/main" id="{D1BB8285-AEFE-5EE5-7F43-67F2EFDE2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476672"/>
            <a:ext cx="7416800" cy="369887"/>
          </a:xfrm>
        </p:spPr>
        <p:txBody>
          <a:bodyPr>
            <a:normAutofit/>
          </a:bodyPr>
          <a:lstStyle/>
          <a:p>
            <a:r>
              <a:rPr lang="en-GB" altLang="zh-TW" sz="2000" b="1" i="1" u="sng" cap="all" dirty="0"/>
              <a:t>Key Business Issues and Strategies</a:t>
            </a:r>
            <a:r>
              <a:rPr lang="zh-TW" altLang="en-US" sz="2000" b="1" i="1" u="sng" cap="all" dirty="0"/>
              <a:t>（</a:t>
            </a:r>
            <a:r>
              <a:rPr lang="en-GB" altLang="zh-TW" sz="2000" b="1" i="1" u="sng" cap="all" dirty="0"/>
              <a:t>URO) </a:t>
            </a:r>
            <a:r>
              <a:rPr lang="en-GB" altLang="zh-TW" sz="2000" b="1" cap="all" dirty="0"/>
              <a:t> </a:t>
            </a:r>
            <a:endParaRPr lang="zh-TW" altLang="zh-TW" sz="2000" b="1" cap="all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B7358B0-BFB6-DE1E-87F9-FC63D11F97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0759394"/>
              </p:ext>
            </p:extLst>
          </p:nvPr>
        </p:nvGraphicFramePr>
        <p:xfrm>
          <a:off x="0" y="836710"/>
          <a:ext cx="9144000" cy="6317504"/>
        </p:xfrm>
        <a:graphic>
          <a:graphicData uri="http://schemas.openxmlformats.org/drawingml/2006/table">
            <a:tbl>
              <a:tblPr/>
              <a:tblGrid>
                <a:gridCol w="11992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3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90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74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HP</a:t>
                      </a:r>
                      <a:endParaRPr kumimoji="0" lang="zh-TW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+mn-ea"/>
                        </a:rPr>
                        <a:t>Opportunity/Issue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+mn-ea"/>
                        </a:rPr>
                        <a:t>（機會點</a:t>
                      </a:r>
                      <a:r>
                        <a:rPr kumimoji="0" lang="en-US" altLang="zh-TW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+mn-ea"/>
                        </a:rPr>
                        <a:t>/</a:t>
                      </a:r>
                      <a:r>
                        <a:rPr kumimoji="0" lang="zh-TW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+mn-ea"/>
                        </a:rPr>
                        <a:t>問題點</a:t>
                      </a:r>
                      <a:r>
                        <a:rPr kumimoji="0" lang="en-US" altLang="zh-TW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+mn-ea"/>
                        </a:rPr>
                        <a:t>)</a:t>
                      </a:r>
                      <a:endParaRPr kumimoji="0" lang="zh-TW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charset="0"/>
                        <a:ea typeface="+mn-ea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Who</a:t>
                      </a:r>
                      <a:endParaRPr kumimoji="0" lang="zh-TW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Action plan</a:t>
                      </a:r>
                      <a:endParaRPr kumimoji="0" lang="zh-TW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0031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慈濟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新光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耕莘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ENZ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E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Issue:</a:t>
                      </a:r>
                    </a:p>
                    <a:p>
                      <a:pPr marL="228600" marR="0" lvl="0" indent="-22860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價格劣勢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：價格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27,216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元，相較於美時價格敏感族群吸引力較弱。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28600" marR="0" lvl="0" indent="-22860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競品策略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：</a:t>
                      </a:r>
                      <a:r>
                        <a:rPr lang="zh-TW" altLang="en-US" sz="120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原廠</a:t>
                      </a:r>
                      <a:r>
                        <a:rPr lang="en-US" altLang="zh-TW" sz="120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4/20</a:t>
                      </a:r>
                      <a:r>
                        <a:rPr lang="zh-TW" altLang="en-US" sz="120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開始執行買一送一方案</a:t>
                      </a:r>
                      <a:endParaRPr lang="en-US" altLang="zh-TW" sz="1200" dirty="0">
                        <a:solidFill>
                          <a:srgbClr val="FF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28600" marR="0" lvl="0" indent="-22860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zh-TW" altLang="en-US" sz="12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牴觸自費</a:t>
                      </a: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：部分醫師牴觸病患自費，病人經濟狀況不佳，可能會直接進行追蹤而不治療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健保給付結束病人數偏少，尋找其他可介入族群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Opportunity:</a:t>
                      </a:r>
                    </a:p>
                    <a:p>
                      <a:pPr marL="228600" marR="0" lvl="0" indent="-22860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dirty="0"/>
                        <a:t>PSA </a:t>
                      </a:r>
                      <a:r>
                        <a:rPr lang="zh-TW" altLang="en-US" sz="1200" dirty="0"/>
                        <a:t>惡化族群：當 </a:t>
                      </a:r>
                      <a:r>
                        <a:rPr lang="en-US" altLang="zh-TW" sz="1200" dirty="0"/>
                        <a:t>PSA </a:t>
                      </a:r>
                      <a:r>
                        <a:rPr lang="zh-TW" altLang="en-US" sz="1200" dirty="0"/>
                        <a:t>控制不佳或疾病進展時，為主要切入時機</a:t>
                      </a:r>
                      <a:br>
                        <a:rPr lang="zh-TW" altLang="en-US" sz="1200" dirty="0"/>
                      </a:br>
                      <a:endParaRPr lang="en-US" altLang="zh-TW" sz="1200" dirty="0"/>
                    </a:p>
                    <a:p>
                      <a:pPr marL="228600" marR="0" lvl="0" indent="-22860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zh-TW" altLang="en-US" sz="1200" dirty="0"/>
                        <a:t>手術併用族群：可與醫師討論術前或手術相關併用機會</a:t>
                      </a:r>
                      <a:br>
                        <a:rPr lang="zh-TW" altLang="en-US" sz="1200" dirty="0"/>
                      </a:br>
                      <a:endParaRPr lang="en-US" altLang="zh-TW" sz="1200" dirty="0"/>
                    </a:p>
                    <a:p>
                      <a:pPr marL="228600" marR="0" lvl="0" indent="-22860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zh-TW" altLang="en-US" sz="1200" dirty="0"/>
                        <a:t>適應症外族群：可開發不符合健保適應症但具臨床治療需求之個案</a:t>
                      </a:r>
                      <a:endParaRPr lang="en-US" altLang="zh-TW" sz="1200" dirty="0"/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E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慈濟：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蔡曜州、游智欽、許竣凱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200" b="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新光：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何肇晏、何承勳、蔡德甫、</a:t>
                      </a:r>
                      <a:r>
                        <a:rPr lang="zh-TW" altLang="en-US" sz="1200" b="0" kern="120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莊光達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200" b="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耕莘：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陳俞安、廖俊厚、姜秉均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EEC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rtl="0" fontAlgn="ctr">
                        <a:buFont typeface="+mj-lt"/>
                        <a:buAutoNum type="arabicPeriod"/>
                      </a:pPr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差異化價值溝通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：</a:t>
                      </a:r>
                      <a:endParaRPr lang="en-US" altLang="zh-TW" sz="1200" b="0" i="0" kern="120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6286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強調本品已獲英國、加拿大、瑞典等主要市場核准</a:t>
                      </a:r>
                    </a:p>
                    <a:p>
                      <a:pPr marL="6286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以國際認可與臨床肯定提升醫師與病人信任度，建立差異化優勢</a:t>
                      </a:r>
                      <a:endParaRPr lang="en-US" altLang="zh-TW" sz="1200" b="0" i="0" kern="120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228600" indent="-228600" rtl="0" fontAlgn="ctr">
                        <a:buFont typeface="+mj-lt"/>
                        <a:buAutoNum type="arabicPeriod"/>
                      </a:pPr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輔助支持方案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：</a:t>
                      </a:r>
                      <a:endParaRPr lang="en-US" altLang="zh-TW" sz="1200" b="0" i="0" kern="120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6858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強調持續性對於本品進行上市後監測計畫，</a:t>
                      </a:r>
                      <a:r>
                        <a:rPr lang="zh-TW" altLang="en-US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強調公司對於藥品安全性與療效監測之重視</a:t>
                      </a:r>
                    </a:p>
                    <a:p>
                      <a:pPr marL="6858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說明顧問費支持，提升醫師轉換使用的意願，並提出希望醫師一同參與上市後療效監測計畫</a:t>
                      </a:r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。</a:t>
                      </a:r>
                    </a:p>
                    <a:p>
                      <a:pPr marL="228600" indent="-228600" rtl="0" fontAlgn="ctr">
                        <a:buFont typeface="+mj-lt"/>
                        <a:buAutoNum type="arabicPeriod"/>
                      </a:pPr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目標族群聚焦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：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571500" lvl="1" indent="-22860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健保下車族群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：有經濟壓力、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PSA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控制不佳仍需長期治療者</a:t>
                      </a:r>
                    </a:p>
                    <a:p>
                      <a:pPr marL="571500" lvl="1" indent="-22860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健保送件未通過病患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：無法獲得健保給付、需替代方案的病人</a:t>
                      </a:r>
                      <a:endParaRPr lang="en-US" altLang="zh-TW" sz="12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228600" lvl="0" indent="-228600">
                        <a:buFont typeface="+mj-lt"/>
                        <a:buAutoNum type="arabicPeriod"/>
                      </a:pPr>
                      <a:r>
                        <a:rPr lang="zh-TW" altLang="en-US" sz="12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與醫師探討可能使用病患族群，並提出成功使用經驗提供參考。</a:t>
                      </a:r>
                      <a:endParaRPr lang="en-US" altLang="zh-TW" sz="12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571500" lvl="1" indent="-22860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瞄準族群</a:t>
                      </a: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MCSPC</a:t>
                      </a:r>
                      <a:r>
                        <a:rPr lang="zh-TW" altLang="en-US" sz="12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，術前併用</a:t>
                      </a:r>
                      <a:r>
                        <a:rPr lang="en" altLang="zh-TW" sz="12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neoadjuvant</a:t>
                      </a:r>
                      <a:r>
                        <a:rPr lang="zh-TW" altLang="en-US" sz="12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族群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altLang="zh-TW" sz="12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0110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1301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B8B26-EE4C-7523-58FE-FBF9F469F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標題 1">
            <a:extLst>
              <a:ext uri="{FF2B5EF4-FFF2-40B4-BE49-F238E27FC236}">
                <a16:creationId xmlns:a16="http://schemas.microsoft.com/office/drawing/2014/main" id="{6B86381B-F60C-BD22-ED23-88D039D34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476672"/>
            <a:ext cx="7416800" cy="369887"/>
          </a:xfrm>
        </p:spPr>
        <p:txBody>
          <a:bodyPr>
            <a:normAutofit/>
          </a:bodyPr>
          <a:lstStyle/>
          <a:p>
            <a:r>
              <a:rPr lang="en-GB" altLang="zh-TW" sz="2000" b="1" i="1" u="sng" cap="all" dirty="0"/>
              <a:t>Key Business Issues and Strategies</a:t>
            </a:r>
            <a:r>
              <a:rPr lang="zh-TW" altLang="en-US" sz="2000" b="1" i="1" u="sng" cap="all" dirty="0"/>
              <a:t>（</a:t>
            </a:r>
            <a:r>
              <a:rPr lang="en-GB" altLang="zh-TW" sz="2000" b="1" i="1" u="sng" cap="all" dirty="0"/>
              <a:t>URO) </a:t>
            </a:r>
            <a:r>
              <a:rPr lang="en-GB" altLang="zh-TW" sz="2000" b="1" cap="all" dirty="0"/>
              <a:t> </a:t>
            </a:r>
            <a:endParaRPr lang="zh-TW" altLang="zh-TW" sz="2000" b="1" cap="all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28411B11-12D2-F518-7166-1B5EE0780C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0523970"/>
              </p:ext>
            </p:extLst>
          </p:nvPr>
        </p:nvGraphicFramePr>
        <p:xfrm>
          <a:off x="0" y="836711"/>
          <a:ext cx="9144000" cy="2598420"/>
        </p:xfrm>
        <a:graphic>
          <a:graphicData uri="http://schemas.openxmlformats.org/drawingml/2006/table">
            <a:tbl>
              <a:tblPr/>
              <a:tblGrid>
                <a:gridCol w="11992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3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90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52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HP</a:t>
                      </a:r>
                      <a:endParaRPr kumimoji="0" lang="zh-TW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+mn-ea"/>
                        </a:rPr>
                        <a:t>Opportunity/Issue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+mn-ea"/>
                        </a:rPr>
                        <a:t>（機會點</a:t>
                      </a:r>
                      <a:r>
                        <a:rPr kumimoji="0" lang="en-US" altLang="zh-TW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+mn-ea"/>
                        </a:rPr>
                        <a:t>/</a:t>
                      </a:r>
                      <a:r>
                        <a:rPr kumimoji="0" lang="zh-TW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+mn-ea"/>
                        </a:rPr>
                        <a:t>問題點</a:t>
                      </a:r>
                      <a:r>
                        <a:rPr kumimoji="0" lang="en-US" altLang="zh-TW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+mn-ea"/>
                        </a:rPr>
                        <a:t>)</a:t>
                      </a:r>
                      <a:endParaRPr kumimoji="0" lang="zh-TW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charset="0"/>
                        <a:ea typeface="+mn-ea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Who</a:t>
                      </a:r>
                      <a:endParaRPr kumimoji="0" lang="zh-TW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Action plan</a:t>
                      </a:r>
                      <a:endParaRPr kumimoji="0" lang="zh-TW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4059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耕莘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慈濟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OXB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E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推動</a:t>
                      </a:r>
                      <a:r>
                        <a:rPr lang="en-US" altLang="zh-TW" sz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UTI</a:t>
                      </a:r>
                      <a:r>
                        <a:rPr lang="zh-TW" altLang="en-US" sz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併用</a:t>
                      </a:r>
                      <a:r>
                        <a:rPr lang="en-US" altLang="zh-TW" sz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OXB</a:t>
                      </a:r>
                      <a:r>
                        <a:rPr lang="zh-TW" altLang="en-US" sz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，使用</a:t>
                      </a:r>
                      <a:r>
                        <a:rPr lang="en-US" altLang="zh-TW" sz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ADT</a:t>
                      </a:r>
                      <a:r>
                        <a:rPr lang="zh-TW" altLang="en-US" sz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造成</a:t>
                      </a:r>
                      <a:r>
                        <a:rPr lang="en-US" altLang="zh-TW" sz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HOT FLASH</a:t>
                      </a:r>
                      <a:r>
                        <a:rPr lang="zh-TW" altLang="en-US" sz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等次族群</a:t>
                      </a:r>
                      <a:endParaRPr lang="en-US" altLang="zh-TW" sz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E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永耕：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楊登凱、楊弘如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耕莘：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黃旭澤 、陳俞安、歸家豪、周有偉、彭崇信、簡黃鎰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新光：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李秉叡</a:t>
                      </a:r>
                    </a:p>
                  </a:txBody>
                  <a:tcPr marT="45691" marB="4569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EEC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zh-TW" altLang="en-US" sz="12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瞭解目前</a:t>
                      </a: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UTI</a:t>
                      </a:r>
                      <a:r>
                        <a:rPr lang="zh-TW" altLang="en-US" sz="12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患者佔比，以及有急尿頻尿症狀比例。</a:t>
                      </a:r>
                      <a:endParaRPr lang="en-US" altLang="zh-TW" sz="12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zh-TW" altLang="en-US" sz="12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詢問此類病患的醫師處方醫師處方習慣</a:t>
                      </a:r>
                      <a:endParaRPr lang="en-US" altLang="zh-TW" sz="12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342900" lvl="1" indent="0" algn="l">
                        <a:buFont typeface="+mj-lt"/>
                        <a:buNone/>
                      </a:pPr>
                      <a:r>
                        <a:rPr lang="zh-TW" altLang="en-US" sz="1200" dirty="0">
                          <a:solidFill>
                            <a:schemeClr val="tx1"/>
                          </a:solidFill>
                        </a:rPr>
                        <a:t>確認併用機會點：抗生素有效，</a:t>
                      </a:r>
                      <a:r>
                        <a:rPr lang="zh-TW" altLang="en-US" sz="1200" b="1" dirty="0">
                          <a:solidFill>
                            <a:schemeClr val="tx1"/>
                          </a:solidFill>
                        </a:rPr>
                        <a:t>但症狀緩解慢 → 治療滿意度不即時</a:t>
                      </a:r>
                      <a:endParaRPr lang="en-US" altLang="zh-TW" sz="1200" b="1" dirty="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algn="l">
                        <a:buFont typeface="+mj-lt"/>
                        <a:buAutoNum type="arabicPeriod"/>
                      </a:pPr>
                      <a:r>
                        <a:rPr lang="zh-TW" altLang="en-US" sz="1200" dirty="0">
                          <a:solidFill>
                            <a:schemeClr val="tx1"/>
                          </a:solidFill>
                        </a:rPr>
                        <a:t>提出 </a:t>
                      </a:r>
                      <a:r>
                        <a:rPr lang="en-US" altLang="zh-TW" sz="1200" dirty="0">
                          <a:solidFill>
                            <a:schemeClr val="tx1"/>
                          </a:solidFill>
                        </a:rPr>
                        <a:t>OXB </a:t>
                      </a:r>
                      <a:r>
                        <a:rPr lang="zh-TW" altLang="en-US" sz="1200" dirty="0">
                          <a:solidFill>
                            <a:schemeClr val="tx1"/>
                          </a:solidFill>
                        </a:rPr>
                        <a:t>併用策略</a:t>
                      </a:r>
                      <a:endParaRPr lang="en-US" altLang="zh-TW" sz="1200" dirty="0">
                        <a:solidFill>
                          <a:schemeClr val="tx1"/>
                        </a:solidFill>
                      </a:endParaRPr>
                    </a:p>
                    <a:p>
                      <a:pPr marL="342900" lvl="1" indent="0" algn="l">
                        <a:buFont typeface="+mj-lt"/>
                        <a:buNone/>
                      </a:pPr>
                      <a:r>
                        <a:rPr lang="zh-TW" altLang="en-US" sz="1200" b="1" dirty="0">
                          <a:solidFill>
                            <a:schemeClr val="tx1"/>
                          </a:solidFill>
                        </a:rPr>
                        <a:t>具「抗發炎 </a:t>
                      </a:r>
                      <a:r>
                        <a:rPr lang="en-US" altLang="zh-TW" sz="1200" b="1" dirty="0">
                          <a:solidFill>
                            <a:schemeClr val="tx1"/>
                          </a:solidFill>
                        </a:rPr>
                        <a:t>+ </a:t>
                      </a:r>
                      <a:r>
                        <a:rPr lang="zh-TW" altLang="en-US" sz="1200" b="1" dirty="0">
                          <a:solidFill>
                            <a:schemeClr val="tx1"/>
                          </a:solidFill>
                        </a:rPr>
                        <a:t>解痙 </a:t>
                      </a:r>
                      <a:r>
                        <a:rPr lang="en-US" altLang="zh-TW" sz="1200" b="1" dirty="0">
                          <a:solidFill>
                            <a:schemeClr val="tx1"/>
                          </a:solidFill>
                        </a:rPr>
                        <a:t>+ </a:t>
                      </a:r>
                      <a:r>
                        <a:rPr lang="zh-TW" altLang="en-US" sz="1200" b="1" dirty="0">
                          <a:solidFill>
                            <a:schemeClr val="tx1"/>
                          </a:solidFill>
                        </a:rPr>
                        <a:t>止痛」三效合一</a:t>
                      </a:r>
                      <a:r>
                        <a:rPr lang="zh-TW" altLang="en-US" sz="1200" dirty="0">
                          <a:solidFill>
                            <a:schemeClr val="tx1"/>
                          </a:solidFill>
                        </a:rPr>
                        <a:t>之臨床證據</a:t>
                      </a:r>
                      <a:endParaRPr lang="en-US" altLang="zh-TW" sz="1200" dirty="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algn="l">
                        <a:buFont typeface="+mj-lt"/>
                        <a:buAutoNum type="arabicPeriod"/>
                      </a:pPr>
                      <a:r>
                        <a:rPr lang="zh-TW" altLang="en-US" sz="120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總結</a:t>
                      </a:r>
                      <a:endParaRPr lang="en-US" altLang="zh-TW" sz="12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342900" lvl="1" indent="0" algn="l">
                        <a:buFont typeface="+mj-lt"/>
                        <a:buNone/>
                      </a:pPr>
                      <a:r>
                        <a:rPr lang="zh-TW" altLang="en-US" sz="1200" dirty="0">
                          <a:solidFill>
                            <a:schemeClr val="tx1"/>
                          </a:solidFill>
                        </a:rPr>
                        <a:t>抗生素處理細菌，</a:t>
                      </a:r>
                      <a:r>
                        <a:rPr lang="en-US" altLang="zh-TW" sz="1200" dirty="0">
                          <a:solidFill>
                            <a:schemeClr val="tx1"/>
                          </a:solidFill>
                        </a:rPr>
                        <a:t>Oxybutynin </a:t>
                      </a:r>
                      <a:r>
                        <a:rPr lang="zh-TW" altLang="en-US" sz="1200" dirty="0">
                          <a:solidFill>
                            <a:schemeClr val="tx1"/>
                          </a:solidFill>
                        </a:rPr>
                        <a:t>處理細菌留下的發炎與刺激。</a:t>
                      </a:r>
                      <a:endParaRPr lang="en-US" altLang="zh-TW" sz="120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228600" lvl="0" indent="-228600" algn="l">
                        <a:buFont typeface="+mj-lt"/>
                        <a:buAutoNum type="arabicPeriod"/>
                      </a:pPr>
                      <a:r>
                        <a:rPr lang="zh-TW" altLang="en-US" sz="1200" dirty="0">
                          <a:solidFill>
                            <a:schemeClr val="tx1"/>
                          </a:solidFill>
                        </a:rPr>
                        <a:t>了解目前</a:t>
                      </a:r>
                      <a:r>
                        <a:rPr lang="en-US" altLang="zh-TW" sz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ADT</a:t>
                      </a:r>
                      <a:r>
                        <a:rPr lang="zh-TW" altLang="en-US" sz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造成</a:t>
                      </a:r>
                      <a:r>
                        <a:rPr lang="en-US" altLang="zh-TW" sz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HOT FLASH</a:t>
                      </a:r>
                      <a:r>
                        <a:rPr lang="zh-TW" altLang="en-US" sz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治療方式，並提出證據提供醫師參考，並詢問醫師是否有比較嚴重</a:t>
                      </a:r>
                      <a:r>
                        <a:rPr lang="en-US" altLang="zh-TW" sz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HOT FLASH</a:t>
                      </a:r>
                      <a:r>
                        <a:rPr lang="zh-TW" altLang="en-US" sz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影響生活病患，提出可以運用</a:t>
                      </a:r>
                      <a:r>
                        <a:rPr lang="en-US" altLang="zh-TW" sz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OXB</a:t>
                      </a:r>
                      <a:r>
                        <a:rPr lang="zh-TW" altLang="en-US" sz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解決病患問題。</a:t>
                      </a:r>
                      <a:endParaRPr lang="en-US" altLang="zh-TW" sz="1200" dirty="0">
                        <a:solidFill>
                          <a:schemeClr val="tx1"/>
                        </a:solidFill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76550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6621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C7F614D0-D488-405A-9198-A9A1D03E84D4}"/>
              </a:ext>
            </a:extLst>
          </p:cNvPr>
          <p:cNvSpPr txBox="1">
            <a:spLocks/>
          </p:cNvSpPr>
          <p:nvPr/>
        </p:nvSpPr>
        <p:spPr>
          <a:xfrm>
            <a:off x="80537" y="620688"/>
            <a:ext cx="7416800" cy="4944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baseline="0">
                <a:solidFill>
                  <a:srgbClr val="333372"/>
                </a:solidFill>
                <a:latin typeface="Arial Unicode MS" pitchFamily="34" charset="-120"/>
                <a:ea typeface="文鼎黑體B" pitchFamily="34" charset="-120"/>
                <a:cs typeface="文鼎黑體B" pitchFamily="34" charset="-120"/>
              </a:defRPr>
            </a:lvl1pPr>
          </a:lstStyle>
          <a:p>
            <a:endParaRPr lang="zh-TW" altLang="en-US" sz="2000">
              <a:latin typeface="Verdan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228BE75-2F3B-4D1B-ACB3-76A708A3B9DF}"/>
              </a:ext>
            </a:extLst>
          </p:cNvPr>
          <p:cNvSpPr txBox="1">
            <a:spLocks/>
          </p:cNvSpPr>
          <p:nvPr/>
        </p:nvSpPr>
        <p:spPr>
          <a:xfrm>
            <a:off x="238366" y="179065"/>
            <a:ext cx="7416800" cy="4944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baseline="0">
                <a:solidFill>
                  <a:srgbClr val="333372"/>
                </a:solidFill>
                <a:latin typeface="Arial Unicode MS" pitchFamily="34" charset="-120"/>
                <a:ea typeface="文鼎黑體B" pitchFamily="34" charset="-120"/>
                <a:cs typeface="文鼎黑體B" pitchFamily="34" charset="-120"/>
              </a:defRPr>
            </a:lvl1pPr>
          </a:lstStyle>
          <a:p>
            <a:r>
              <a:rPr lang="zh-TW" altLang="en-US" sz="2400" dirty="0"/>
              <a:t>二</a:t>
            </a:r>
            <a:r>
              <a:rPr lang="zh-TW" altLang="en-US" sz="2400" i="1" dirty="0"/>
              <a:t> </a:t>
            </a:r>
            <a:r>
              <a:rPr lang="en-US" altLang="zh-TW" sz="2400" i="1" dirty="0"/>
              <a:t>,</a:t>
            </a:r>
            <a:r>
              <a:rPr lang="en-US" altLang="zh-TW" sz="2400" i="1" u="sng" dirty="0"/>
              <a:t>BP  Forecast  -- DVG Qty </a:t>
            </a:r>
            <a:r>
              <a:rPr lang="zh-TW" altLang="en-US" sz="2400" i="1" u="sng" dirty="0"/>
              <a:t>（</a:t>
            </a:r>
            <a:r>
              <a:rPr lang="en-US" altLang="zh-TW" sz="2400" i="1" u="sng" dirty="0"/>
              <a:t>Forecast)</a:t>
            </a:r>
            <a:r>
              <a:rPr lang="en-GB" altLang="zh-TW" sz="2400" dirty="0"/>
              <a:t> </a:t>
            </a:r>
            <a:endParaRPr lang="zh-TW" altLang="en-US" sz="2400" dirty="0">
              <a:latin typeface="Verdana" panose="020B0604030504040204" pitchFamily="34" charset="0"/>
              <a:ea typeface="新細明體" panose="02020500000000000000" pitchFamily="18" charset="-12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D394978-3413-4A28-A619-C64E7FDB26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9891028"/>
              </p:ext>
            </p:extLst>
          </p:nvPr>
        </p:nvGraphicFramePr>
        <p:xfrm>
          <a:off x="0" y="1115169"/>
          <a:ext cx="9144006" cy="1187266"/>
        </p:xfrm>
        <a:graphic>
          <a:graphicData uri="http://schemas.openxmlformats.org/drawingml/2006/table">
            <a:tbl>
              <a:tblPr/>
              <a:tblGrid>
                <a:gridCol w="666506">
                  <a:extLst>
                    <a:ext uri="{9D8B030D-6E8A-4147-A177-3AD203B41FA5}">
                      <a16:colId xmlns:a16="http://schemas.microsoft.com/office/drawing/2014/main" val="89182485"/>
                    </a:ext>
                  </a:extLst>
                </a:gridCol>
                <a:gridCol w="619734">
                  <a:extLst>
                    <a:ext uri="{9D8B030D-6E8A-4147-A177-3AD203B41FA5}">
                      <a16:colId xmlns:a16="http://schemas.microsoft.com/office/drawing/2014/main" val="3789844698"/>
                    </a:ext>
                  </a:extLst>
                </a:gridCol>
                <a:gridCol w="561269">
                  <a:extLst>
                    <a:ext uri="{9D8B030D-6E8A-4147-A177-3AD203B41FA5}">
                      <a16:colId xmlns:a16="http://schemas.microsoft.com/office/drawing/2014/main" val="3149385779"/>
                    </a:ext>
                  </a:extLst>
                </a:gridCol>
                <a:gridCol w="561269">
                  <a:extLst>
                    <a:ext uri="{9D8B030D-6E8A-4147-A177-3AD203B41FA5}">
                      <a16:colId xmlns:a16="http://schemas.microsoft.com/office/drawing/2014/main" val="4001008920"/>
                    </a:ext>
                  </a:extLst>
                </a:gridCol>
                <a:gridCol w="561269">
                  <a:extLst>
                    <a:ext uri="{9D8B030D-6E8A-4147-A177-3AD203B41FA5}">
                      <a16:colId xmlns:a16="http://schemas.microsoft.com/office/drawing/2014/main" val="2836474316"/>
                    </a:ext>
                  </a:extLst>
                </a:gridCol>
                <a:gridCol w="561269">
                  <a:extLst>
                    <a:ext uri="{9D8B030D-6E8A-4147-A177-3AD203B41FA5}">
                      <a16:colId xmlns:a16="http://schemas.microsoft.com/office/drawing/2014/main" val="1910821258"/>
                    </a:ext>
                  </a:extLst>
                </a:gridCol>
                <a:gridCol w="561269">
                  <a:extLst>
                    <a:ext uri="{9D8B030D-6E8A-4147-A177-3AD203B41FA5}">
                      <a16:colId xmlns:a16="http://schemas.microsoft.com/office/drawing/2014/main" val="2949098804"/>
                    </a:ext>
                  </a:extLst>
                </a:gridCol>
                <a:gridCol w="561269">
                  <a:extLst>
                    <a:ext uri="{9D8B030D-6E8A-4147-A177-3AD203B41FA5}">
                      <a16:colId xmlns:a16="http://schemas.microsoft.com/office/drawing/2014/main" val="1780666859"/>
                    </a:ext>
                  </a:extLst>
                </a:gridCol>
                <a:gridCol w="561269">
                  <a:extLst>
                    <a:ext uri="{9D8B030D-6E8A-4147-A177-3AD203B41FA5}">
                      <a16:colId xmlns:a16="http://schemas.microsoft.com/office/drawing/2014/main" val="2476495642"/>
                    </a:ext>
                  </a:extLst>
                </a:gridCol>
                <a:gridCol w="561269">
                  <a:extLst>
                    <a:ext uri="{9D8B030D-6E8A-4147-A177-3AD203B41FA5}">
                      <a16:colId xmlns:a16="http://schemas.microsoft.com/office/drawing/2014/main" val="4137970107"/>
                    </a:ext>
                  </a:extLst>
                </a:gridCol>
                <a:gridCol w="561269">
                  <a:extLst>
                    <a:ext uri="{9D8B030D-6E8A-4147-A177-3AD203B41FA5}">
                      <a16:colId xmlns:a16="http://schemas.microsoft.com/office/drawing/2014/main" val="2236032660"/>
                    </a:ext>
                  </a:extLst>
                </a:gridCol>
                <a:gridCol w="561269">
                  <a:extLst>
                    <a:ext uri="{9D8B030D-6E8A-4147-A177-3AD203B41FA5}">
                      <a16:colId xmlns:a16="http://schemas.microsoft.com/office/drawing/2014/main" val="2894218876"/>
                    </a:ext>
                  </a:extLst>
                </a:gridCol>
                <a:gridCol w="561269">
                  <a:extLst>
                    <a:ext uri="{9D8B030D-6E8A-4147-A177-3AD203B41FA5}">
                      <a16:colId xmlns:a16="http://schemas.microsoft.com/office/drawing/2014/main" val="4070146184"/>
                    </a:ext>
                  </a:extLst>
                </a:gridCol>
                <a:gridCol w="561269">
                  <a:extLst>
                    <a:ext uri="{9D8B030D-6E8A-4147-A177-3AD203B41FA5}">
                      <a16:colId xmlns:a16="http://schemas.microsoft.com/office/drawing/2014/main" val="4165913838"/>
                    </a:ext>
                  </a:extLst>
                </a:gridCol>
                <a:gridCol w="561269">
                  <a:extLst>
                    <a:ext uri="{9D8B030D-6E8A-4147-A177-3AD203B41FA5}">
                      <a16:colId xmlns:a16="http://schemas.microsoft.com/office/drawing/2014/main" val="719497738"/>
                    </a:ext>
                  </a:extLst>
                </a:gridCol>
                <a:gridCol w="561269">
                  <a:extLst>
                    <a:ext uri="{9D8B030D-6E8A-4147-A177-3AD203B41FA5}">
                      <a16:colId xmlns:a16="http://schemas.microsoft.com/office/drawing/2014/main" val="2354486815"/>
                    </a:ext>
                  </a:extLst>
                </a:gridCol>
              </a:tblGrid>
              <a:tr h="58936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醫院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000" b="1" i="0" u="none" strike="noStrike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DVG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Jan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Feb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Mar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Apr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May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Jun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Jul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Aug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Sep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Oct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Nov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Dec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YTD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Est. vsLY G.R.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562553"/>
                  </a:ext>
                </a:extLst>
              </a:tr>
              <a:tr h="298952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慈濟醫院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1,120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1,120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560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1,680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1,120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952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1,176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1,176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1,176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1,176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11,256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2,800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114478"/>
                  </a:ext>
                </a:extLst>
              </a:tr>
              <a:tr h="298952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1,680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1568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784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1176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  </a:t>
                      </a:r>
                      <a:r>
                        <a:rPr lang="en-US" altLang="zh-TW" sz="10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5,208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TW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80.0%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6229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22362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C7F614D0-D488-405A-9198-A9A1D03E84D4}"/>
              </a:ext>
            </a:extLst>
          </p:cNvPr>
          <p:cNvSpPr txBox="1">
            <a:spLocks/>
          </p:cNvSpPr>
          <p:nvPr/>
        </p:nvSpPr>
        <p:spPr>
          <a:xfrm>
            <a:off x="80537" y="620688"/>
            <a:ext cx="7416800" cy="4944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baseline="0">
                <a:solidFill>
                  <a:srgbClr val="333372"/>
                </a:solidFill>
                <a:latin typeface="Arial Unicode MS" pitchFamily="34" charset="-120"/>
                <a:ea typeface="文鼎黑體B" pitchFamily="34" charset="-120"/>
                <a:cs typeface="文鼎黑體B" pitchFamily="34" charset="-120"/>
              </a:defRPr>
            </a:lvl1pPr>
          </a:lstStyle>
          <a:p>
            <a:endParaRPr lang="zh-TW" altLang="en-US" sz="2000">
              <a:latin typeface="Verdan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228BE75-2F3B-4D1B-ACB3-76A708A3B9DF}"/>
              </a:ext>
            </a:extLst>
          </p:cNvPr>
          <p:cNvSpPr txBox="1">
            <a:spLocks/>
          </p:cNvSpPr>
          <p:nvPr/>
        </p:nvSpPr>
        <p:spPr>
          <a:xfrm>
            <a:off x="238366" y="179065"/>
            <a:ext cx="7416800" cy="4944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baseline="0">
                <a:solidFill>
                  <a:srgbClr val="333372"/>
                </a:solidFill>
                <a:latin typeface="Arial Unicode MS" pitchFamily="34" charset="-120"/>
                <a:ea typeface="文鼎黑體B" pitchFamily="34" charset="-120"/>
                <a:cs typeface="文鼎黑體B" pitchFamily="34" charset="-120"/>
              </a:defRPr>
            </a:lvl1pPr>
          </a:lstStyle>
          <a:p>
            <a:r>
              <a:rPr lang="zh-TW" altLang="en-US" sz="2400" dirty="0"/>
              <a:t>二</a:t>
            </a:r>
            <a:r>
              <a:rPr lang="zh-TW" altLang="en-US" sz="2400" i="1" dirty="0"/>
              <a:t> </a:t>
            </a:r>
            <a:r>
              <a:rPr lang="en-US" altLang="zh-TW" sz="2400" i="1" dirty="0"/>
              <a:t>,</a:t>
            </a:r>
            <a:r>
              <a:rPr lang="en-US" altLang="zh-TW" sz="2400" i="1" u="sng" dirty="0"/>
              <a:t>BP  Forecast  -- ESV Qty </a:t>
            </a:r>
            <a:r>
              <a:rPr lang="zh-TW" altLang="en-US" sz="2400" i="1" u="sng" dirty="0"/>
              <a:t>（</a:t>
            </a:r>
            <a:r>
              <a:rPr lang="en-US" altLang="zh-TW" sz="2400" i="1" u="sng" dirty="0"/>
              <a:t>Forecast)</a:t>
            </a:r>
            <a:r>
              <a:rPr lang="en-GB" altLang="zh-TW" sz="2400" dirty="0"/>
              <a:t> </a:t>
            </a:r>
            <a:endParaRPr lang="zh-TW" altLang="en-US" sz="2400" dirty="0">
              <a:latin typeface="Verdana" panose="020B0604030504040204" pitchFamily="34" charset="0"/>
              <a:ea typeface="新細明體" panose="02020500000000000000" pitchFamily="18" charset="-12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CBA7337-E66F-47FD-9D85-AF6F03AB74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4196963"/>
              </p:ext>
            </p:extLst>
          </p:nvPr>
        </p:nvGraphicFramePr>
        <p:xfrm>
          <a:off x="0" y="620688"/>
          <a:ext cx="9144000" cy="3569309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1548579957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1475639529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3483387447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425528622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1851085617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310346298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123825104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937685087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556941925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1148771379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920816088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3684190509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394096863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49978270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42119094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1344490302"/>
                    </a:ext>
                  </a:extLst>
                </a:gridCol>
              </a:tblGrid>
              <a:tr h="86700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醫院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200" b="1" i="0" u="none" strike="noStrike" dirty="0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ESV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Jan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Feb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Mar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Apr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May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JUN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JUL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Aug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Sep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Oct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Nov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Dec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YTD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Est. vsLY G.R.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3734198"/>
                  </a:ext>
                </a:extLst>
              </a:tr>
              <a:tr h="292489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新光醫院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2025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2,240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2,240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4,480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2,240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2,240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4,480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2,240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2,240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2,240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4,480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2,240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  </a:t>
                      </a: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31,360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11,200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816753"/>
                  </a:ext>
                </a:extLst>
              </a:tr>
              <a:tr h="236842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2,240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4,480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4,480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2,240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2,240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2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2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2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2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2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2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TW" altLang="en-US" sz="12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  </a:t>
                      </a:r>
                      <a:r>
                        <a:rPr lang="en-US" altLang="zh-TW" sz="12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15,680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50.0%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568308"/>
                  </a:ext>
                </a:extLst>
              </a:tr>
              <a:tr h="292489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慈濟醫院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3,080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1,120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2,240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2,240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2,240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2,240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2,240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1,120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1,680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1,680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1,680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1,680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  </a:t>
                      </a: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19,880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10,920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149325"/>
                  </a:ext>
                </a:extLst>
              </a:tr>
              <a:tr h="292489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3,360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2,240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1,680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1,680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2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2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2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2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2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2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TW" altLang="en-US" sz="12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    </a:t>
                      </a:r>
                      <a:r>
                        <a:rPr lang="en-US" altLang="zh-TW" sz="12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8,960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-16.1%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9078704"/>
                  </a:ext>
                </a:extLst>
              </a:tr>
              <a:tr h="236842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耕莘台北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1,120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1,120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1,120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1,680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1,120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1,680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1,680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2,240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1,680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1,120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1,680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1,680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  </a:t>
                      </a: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14,560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6,160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8309912"/>
                  </a:ext>
                </a:extLst>
              </a:tr>
              <a:tr h="292489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2,240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1,680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1,680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2,240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2,240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2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2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TW" altLang="en-US" sz="12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  </a:t>
                      </a:r>
                      <a:r>
                        <a:rPr lang="en-US" altLang="zh-TW" sz="12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10,080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55.6%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1282836"/>
                  </a:ext>
                </a:extLst>
              </a:tr>
              <a:tr h="292489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安康耕莘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140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252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140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140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       </a:t>
                      </a: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532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140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168200"/>
                  </a:ext>
                </a:extLst>
              </a:tr>
              <a:tr h="236842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140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2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2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TW" altLang="en-US" sz="12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       </a:t>
                      </a:r>
                      <a:r>
                        <a:rPr lang="en-US" altLang="zh-TW" sz="12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420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100%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150597"/>
                  </a:ext>
                </a:extLst>
              </a:tr>
              <a:tr h="292489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永和耕莘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560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560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1,400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840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1,400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840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840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1,400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840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1,960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1,120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    </a:t>
                      </a: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8,680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4,760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9267837"/>
                  </a:ext>
                </a:extLst>
              </a:tr>
              <a:tr h="236842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1,400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840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2,800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1,400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1,400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2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2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TW" altLang="en-US" sz="12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    </a:t>
                      </a:r>
                      <a:r>
                        <a:rPr lang="en-US" altLang="zh-TW" sz="12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7,840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92%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08460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15092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C7F614D0-D488-405A-9198-A9A1D03E84D4}"/>
              </a:ext>
            </a:extLst>
          </p:cNvPr>
          <p:cNvSpPr txBox="1">
            <a:spLocks/>
          </p:cNvSpPr>
          <p:nvPr/>
        </p:nvSpPr>
        <p:spPr>
          <a:xfrm>
            <a:off x="80537" y="620688"/>
            <a:ext cx="7416800" cy="4944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baseline="0">
                <a:solidFill>
                  <a:srgbClr val="333372"/>
                </a:solidFill>
                <a:latin typeface="Arial Unicode MS" pitchFamily="34" charset="-120"/>
                <a:ea typeface="文鼎黑體B" pitchFamily="34" charset="-120"/>
                <a:cs typeface="文鼎黑體B" pitchFamily="34" charset="-120"/>
              </a:defRPr>
            </a:lvl1pPr>
          </a:lstStyle>
          <a:p>
            <a:endParaRPr lang="zh-TW" altLang="en-US" sz="2000">
              <a:latin typeface="Verdan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228BE75-2F3B-4D1B-ACB3-76A708A3B9DF}"/>
              </a:ext>
            </a:extLst>
          </p:cNvPr>
          <p:cNvSpPr txBox="1">
            <a:spLocks/>
          </p:cNvSpPr>
          <p:nvPr/>
        </p:nvSpPr>
        <p:spPr>
          <a:xfrm>
            <a:off x="238366" y="179065"/>
            <a:ext cx="7416800" cy="4944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baseline="0">
                <a:solidFill>
                  <a:srgbClr val="333372"/>
                </a:solidFill>
                <a:latin typeface="Arial Unicode MS" pitchFamily="34" charset="-120"/>
                <a:ea typeface="文鼎黑體B" pitchFamily="34" charset="-120"/>
                <a:cs typeface="文鼎黑體B" pitchFamily="34" charset="-120"/>
              </a:defRPr>
            </a:lvl1pPr>
          </a:lstStyle>
          <a:p>
            <a:r>
              <a:rPr lang="zh-TW" altLang="en-US" sz="2400" dirty="0"/>
              <a:t>二</a:t>
            </a:r>
            <a:r>
              <a:rPr lang="zh-TW" altLang="en-US" sz="2400" i="1" dirty="0"/>
              <a:t> </a:t>
            </a:r>
            <a:r>
              <a:rPr lang="en-US" altLang="zh-TW" sz="2400" i="1" dirty="0"/>
              <a:t>,</a:t>
            </a:r>
            <a:r>
              <a:rPr lang="en-US" altLang="zh-TW" sz="2400" i="1" u="sng" dirty="0"/>
              <a:t>BP  Forecast  --  LMN Qty </a:t>
            </a:r>
            <a:r>
              <a:rPr lang="zh-TW" altLang="en-US" sz="2400" i="1" u="sng" dirty="0"/>
              <a:t>（</a:t>
            </a:r>
            <a:r>
              <a:rPr lang="en-US" altLang="zh-TW" sz="2400" i="1" u="sng" dirty="0"/>
              <a:t>Forecast)</a:t>
            </a:r>
            <a:r>
              <a:rPr lang="en-GB" altLang="zh-TW" sz="2400" dirty="0"/>
              <a:t> </a:t>
            </a:r>
            <a:endParaRPr lang="zh-TW" altLang="en-US" sz="2400" dirty="0">
              <a:latin typeface="Verdana" panose="020B0604030504040204" pitchFamily="34" charset="0"/>
              <a:ea typeface="新細明體" panose="02020500000000000000" pitchFamily="18" charset="-12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7263B26-709A-5F5C-8FDA-E642A06704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565647"/>
              </p:ext>
            </p:extLst>
          </p:nvPr>
        </p:nvGraphicFramePr>
        <p:xfrm>
          <a:off x="-1" y="836763"/>
          <a:ext cx="9144000" cy="3213819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844357449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1203985327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3056565667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854942076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98320152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9240119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4042416388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375974599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108572316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73256500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13885146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1365791976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1133368158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1094122676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60493945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3026839076"/>
                    </a:ext>
                  </a:extLst>
                </a:gridCol>
              </a:tblGrid>
              <a:tr h="5671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醫院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LMD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JAN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Feb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Mar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Apr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May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JuD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Jul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Aug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Sep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Oct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Dov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Dec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YTD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Est. vsLY G.R.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1006975"/>
                  </a:ext>
                </a:extLst>
              </a:tr>
              <a:tr h="236842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新光醫院</a:t>
                      </a:r>
                      <a:endParaRPr lang="zh-TW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180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360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180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360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180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360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540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180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360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360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360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360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 </a:t>
                      </a:r>
                      <a:r>
                        <a:rPr lang="en-US" altLang="zh-TW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3,780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TW" sz="11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1,260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7190385"/>
                  </a:ext>
                </a:extLst>
              </a:tr>
              <a:tr h="292489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540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540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360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360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360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zh-TW" altLang="en-US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 </a:t>
                      </a:r>
                      <a:r>
                        <a:rPr lang="en-US" altLang="zh-TW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2,160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TW" sz="11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66.7%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1080969"/>
                  </a:ext>
                </a:extLst>
              </a:tr>
              <a:tr h="292489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慈濟醫院</a:t>
                      </a:r>
                      <a:endParaRPr lang="zh-TW" alt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360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360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270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180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180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2610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1,080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756756"/>
                  </a:ext>
                </a:extLst>
              </a:tr>
              <a:tr h="236842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330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90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1" i="0" u="none" strike="noStrike" dirty="0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360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1140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8.3%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302795"/>
                  </a:ext>
                </a:extLst>
              </a:tr>
              <a:tr h="292489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耕莘台北</a:t>
                      </a:r>
                      <a:endParaRPr lang="zh-TW" alt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2025 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108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30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300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60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60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558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9351135"/>
                  </a:ext>
                </a:extLst>
              </a:tr>
              <a:tr h="292489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120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120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240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360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360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TW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1200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#DIV/0!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5568818"/>
                  </a:ext>
                </a:extLst>
              </a:tr>
              <a:tr h="236842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安康耕莘</a:t>
                      </a:r>
                      <a:endParaRPr lang="zh-TW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2025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48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120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180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60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528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8216340"/>
                  </a:ext>
                </a:extLst>
              </a:tr>
              <a:tr h="292489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180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60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240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420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360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TW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1260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#DIV/0!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1341663"/>
                  </a:ext>
                </a:extLst>
              </a:tr>
              <a:tr h="236842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永和耕莘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2025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TW" sz="11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2517912"/>
                  </a:ext>
                </a:extLst>
              </a:tr>
              <a:tr h="236842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54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90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300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240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360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zh-TW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1044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#DIV/0!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4773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02585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26AA0-DA69-5CDC-F9CF-125D46D38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2D09D965-B0ED-E236-5EE5-A7A2EAC39BD3}"/>
              </a:ext>
            </a:extLst>
          </p:cNvPr>
          <p:cNvSpPr txBox="1">
            <a:spLocks/>
          </p:cNvSpPr>
          <p:nvPr/>
        </p:nvSpPr>
        <p:spPr>
          <a:xfrm>
            <a:off x="80537" y="620688"/>
            <a:ext cx="7416800" cy="4944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baseline="0">
                <a:solidFill>
                  <a:srgbClr val="333372"/>
                </a:solidFill>
                <a:latin typeface="Arial Unicode MS" pitchFamily="34" charset="-120"/>
                <a:ea typeface="文鼎黑體B" pitchFamily="34" charset="-120"/>
                <a:cs typeface="文鼎黑體B" pitchFamily="34" charset="-120"/>
              </a:defRPr>
            </a:lvl1pPr>
          </a:lstStyle>
          <a:p>
            <a:endParaRPr lang="zh-TW" altLang="en-US" sz="2000">
              <a:latin typeface="Verdan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8A2A6F11-4F7E-279A-1EF9-5D63CA3471DF}"/>
              </a:ext>
            </a:extLst>
          </p:cNvPr>
          <p:cNvSpPr txBox="1">
            <a:spLocks/>
          </p:cNvSpPr>
          <p:nvPr/>
        </p:nvSpPr>
        <p:spPr>
          <a:xfrm>
            <a:off x="238366" y="179065"/>
            <a:ext cx="7416800" cy="4944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baseline="0">
                <a:solidFill>
                  <a:srgbClr val="333372"/>
                </a:solidFill>
                <a:latin typeface="Arial Unicode MS" pitchFamily="34" charset="-120"/>
                <a:ea typeface="文鼎黑體B" pitchFamily="34" charset="-120"/>
                <a:cs typeface="文鼎黑體B" pitchFamily="34" charset="-120"/>
              </a:defRPr>
            </a:lvl1pPr>
          </a:lstStyle>
          <a:p>
            <a:r>
              <a:rPr lang="zh-TW" altLang="en-US" sz="2400" dirty="0"/>
              <a:t>二</a:t>
            </a:r>
            <a:r>
              <a:rPr lang="zh-TW" altLang="en-US" sz="2400" i="1" dirty="0"/>
              <a:t> </a:t>
            </a:r>
            <a:r>
              <a:rPr lang="en-US" altLang="zh-TW" sz="2400" i="1" dirty="0"/>
              <a:t>,</a:t>
            </a:r>
            <a:r>
              <a:rPr lang="en-US" altLang="zh-TW" sz="2400" i="1" u="sng" dirty="0"/>
              <a:t>BP  Forecast  --  YSL Qty </a:t>
            </a:r>
            <a:r>
              <a:rPr lang="zh-TW" altLang="en-US" sz="2400" i="1" u="sng" dirty="0"/>
              <a:t>（</a:t>
            </a:r>
            <a:r>
              <a:rPr lang="en-US" altLang="zh-TW" sz="2400" i="1" u="sng" dirty="0"/>
              <a:t>Forecast)</a:t>
            </a:r>
            <a:r>
              <a:rPr lang="en-GB" altLang="zh-TW" sz="2400" dirty="0"/>
              <a:t> </a:t>
            </a:r>
            <a:endParaRPr lang="zh-TW" altLang="en-US" sz="2400" dirty="0">
              <a:latin typeface="Verdana" panose="020B0604030504040204" pitchFamily="34" charset="0"/>
              <a:ea typeface="新細明體" panose="02020500000000000000" pitchFamily="18" charset="-120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D5E6692E-3683-A701-5788-659A727CB4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7323857"/>
              </p:ext>
            </p:extLst>
          </p:nvPr>
        </p:nvGraphicFramePr>
        <p:xfrm>
          <a:off x="0" y="1395318"/>
          <a:ext cx="9144006" cy="1187266"/>
        </p:xfrm>
        <a:graphic>
          <a:graphicData uri="http://schemas.openxmlformats.org/drawingml/2006/table">
            <a:tbl>
              <a:tblPr/>
              <a:tblGrid>
                <a:gridCol w="666506">
                  <a:extLst>
                    <a:ext uri="{9D8B030D-6E8A-4147-A177-3AD203B41FA5}">
                      <a16:colId xmlns:a16="http://schemas.microsoft.com/office/drawing/2014/main" val="89182485"/>
                    </a:ext>
                  </a:extLst>
                </a:gridCol>
                <a:gridCol w="619734">
                  <a:extLst>
                    <a:ext uri="{9D8B030D-6E8A-4147-A177-3AD203B41FA5}">
                      <a16:colId xmlns:a16="http://schemas.microsoft.com/office/drawing/2014/main" val="3789844698"/>
                    </a:ext>
                  </a:extLst>
                </a:gridCol>
                <a:gridCol w="561269">
                  <a:extLst>
                    <a:ext uri="{9D8B030D-6E8A-4147-A177-3AD203B41FA5}">
                      <a16:colId xmlns:a16="http://schemas.microsoft.com/office/drawing/2014/main" val="3149385779"/>
                    </a:ext>
                  </a:extLst>
                </a:gridCol>
                <a:gridCol w="561269">
                  <a:extLst>
                    <a:ext uri="{9D8B030D-6E8A-4147-A177-3AD203B41FA5}">
                      <a16:colId xmlns:a16="http://schemas.microsoft.com/office/drawing/2014/main" val="4001008920"/>
                    </a:ext>
                  </a:extLst>
                </a:gridCol>
                <a:gridCol w="561269">
                  <a:extLst>
                    <a:ext uri="{9D8B030D-6E8A-4147-A177-3AD203B41FA5}">
                      <a16:colId xmlns:a16="http://schemas.microsoft.com/office/drawing/2014/main" val="2836474316"/>
                    </a:ext>
                  </a:extLst>
                </a:gridCol>
                <a:gridCol w="561269">
                  <a:extLst>
                    <a:ext uri="{9D8B030D-6E8A-4147-A177-3AD203B41FA5}">
                      <a16:colId xmlns:a16="http://schemas.microsoft.com/office/drawing/2014/main" val="1910821258"/>
                    </a:ext>
                  </a:extLst>
                </a:gridCol>
                <a:gridCol w="561269">
                  <a:extLst>
                    <a:ext uri="{9D8B030D-6E8A-4147-A177-3AD203B41FA5}">
                      <a16:colId xmlns:a16="http://schemas.microsoft.com/office/drawing/2014/main" val="2949098804"/>
                    </a:ext>
                  </a:extLst>
                </a:gridCol>
                <a:gridCol w="561269">
                  <a:extLst>
                    <a:ext uri="{9D8B030D-6E8A-4147-A177-3AD203B41FA5}">
                      <a16:colId xmlns:a16="http://schemas.microsoft.com/office/drawing/2014/main" val="1780666859"/>
                    </a:ext>
                  </a:extLst>
                </a:gridCol>
                <a:gridCol w="561269">
                  <a:extLst>
                    <a:ext uri="{9D8B030D-6E8A-4147-A177-3AD203B41FA5}">
                      <a16:colId xmlns:a16="http://schemas.microsoft.com/office/drawing/2014/main" val="2476495642"/>
                    </a:ext>
                  </a:extLst>
                </a:gridCol>
                <a:gridCol w="561269">
                  <a:extLst>
                    <a:ext uri="{9D8B030D-6E8A-4147-A177-3AD203B41FA5}">
                      <a16:colId xmlns:a16="http://schemas.microsoft.com/office/drawing/2014/main" val="4137970107"/>
                    </a:ext>
                  </a:extLst>
                </a:gridCol>
                <a:gridCol w="561269">
                  <a:extLst>
                    <a:ext uri="{9D8B030D-6E8A-4147-A177-3AD203B41FA5}">
                      <a16:colId xmlns:a16="http://schemas.microsoft.com/office/drawing/2014/main" val="2236032660"/>
                    </a:ext>
                  </a:extLst>
                </a:gridCol>
                <a:gridCol w="561269">
                  <a:extLst>
                    <a:ext uri="{9D8B030D-6E8A-4147-A177-3AD203B41FA5}">
                      <a16:colId xmlns:a16="http://schemas.microsoft.com/office/drawing/2014/main" val="2894218876"/>
                    </a:ext>
                  </a:extLst>
                </a:gridCol>
                <a:gridCol w="561269">
                  <a:extLst>
                    <a:ext uri="{9D8B030D-6E8A-4147-A177-3AD203B41FA5}">
                      <a16:colId xmlns:a16="http://schemas.microsoft.com/office/drawing/2014/main" val="4070146184"/>
                    </a:ext>
                  </a:extLst>
                </a:gridCol>
                <a:gridCol w="561269">
                  <a:extLst>
                    <a:ext uri="{9D8B030D-6E8A-4147-A177-3AD203B41FA5}">
                      <a16:colId xmlns:a16="http://schemas.microsoft.com/office/drawing/2014/main" val="4165913838"/>
                    </a:ext>
                  </a:extLst>
                </a:gridCol>
                <a:gridCol w="561269">
                  <a:extLst>
                    <a:ext uri="{9D8B030D-6E8A-4147-A177-3AD203B41FA5}">
                      <a16:colId xmlns:a16="http://schemas.microsoft.com/office/drawing/2014/main" val="719497738"/>
                    </a:ext>
                  </a:extLst>
                </a:gridCol>
                <a:gridCol w="561269">
                  <a:extLst>
                    <a:ext uri="{9D8B030D-6E8A-4147-A177-3AD203B41FA5}">
                      <a16:colId xmlns:a16="http://schemas.microsoft.com/office/drawing/2014/main" val="2354486815"/>
                    </a:ext>
                  </a:extLst>
                </a:gridCol>
              </a:tblGrid>
              <a:tr h="58936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醫院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i="0" u="none" strike="noStrike" dirty="0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YSL</a:t>
                      </a:r>
                      <a:endParaRPr lang="en" sz="1000" b="1" i="0" u="none" strike="noStrike" dirty="0">
                        <a:solidFill>
                          <a:srgbClr val="FFC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Jan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Feb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Mar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Apr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May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Jun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Jul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Aug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Sep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Oct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Nov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Dec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YTD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Est. vsLY G.R.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562553"/>
                  </a:ext>
                </a:extLst>
              </a:tr>
              <a:tr h="298952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新光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TW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TW" sz="1000" b="0" i="0" u="none" strike="noStrike" dirty="0">
                        <a:solidFill>
                          <a:srgbClr val="ED7D3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en-US" altLang="zh-TW" sz="10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114478"/>
                  </a:ext>
                </a:extLst>
              </a:tr>
              <a:tr h="298952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zh-TW" sz="1000" b="0" i="0" u="none" strike="noStrike" dirty="0">
                        <a:solidFill>
                          <a:srgbClr val="ED7D3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840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840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840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  </a:t>
                      </a:r>
                      <a:r>
                        <a:rPr lang="en-US" altLang="zh-TW" sz="10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2,520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#DIV/0!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622975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5B1FBC6-7447-D8CC-63D0-CD6D8286F7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6129863"/>
              </p:ext>
            </p:extLst>
          </p:nvPr>
        </p:nvGraphicFramePr>
        <p:xfrm>
          <a:off x="1" y="3745865"/>
          <a:ext cx="9143999" cy="1236122"/>
        </p:xfrm>
        <a:graphic>
          <a:graphicData uri="http://schemas.openxmlformats.org/drawingml/2006/table">
            <a:tbl>
              <a:tblPr/>
              <a:tblGrid>
                <a:gridCol w="679742">
                  <a:extLst>
                    <a:ext uri="{9D8B030D-6E8A-4147-A177-3AD203B41FA5}">
                      <a16:colId xmlns:a16="http://schemas.microsoft.com/office/drawing/2014/main" val="522701053"/>
                    </a:ext>
                  </a:extLst>
                </a:gridCol>
                <a:gridCol w="769916">
                  <a:extLst>
                    <a:ext uri="{9D8B030D-6E8A-4147-A177-3AD203B41FA5}">
                      <a16:colId xmlns:a16="http://schemas.microsoft.com/office/drawing/2014/main" val="4212962623"/>
                    </a:ext>
                  </a:extLst>
                </a:gridCol>
                <a:gridCol w="743415">
                  <a:extLst>
                    <a:ext uri="{9D8B030D-6E8A-4147-A177-3AD203B41FA5}">
                      <a16:colId xmlns:a16="http://schemas.microsoft.com/office/drawing/2014/main" val="93083531"/>
                    </a:ext>
                  </a:extLst>
                </a:gridCol>
                <a:gridCol w="892098">
                  <a:extLst>
                    <a:ext uri="{9D8B030D-6E8A-4147-A177-3AD203B41FA5}">
                      <a16:colId xmlns:a16="http://schemas.microsoft.com/office/drawing/2014/main" val="3948026476"/>
                    </a:ext>
                  </a:extLst>
                </a:gridCol>
                <a:gridCol w="892098">
                  <a:extLst>
                    <a:ext uri="{9D8B030D-6E8A-4147-A177-3AD203B41FA5}">
                      <a16:colId xmlns:a16="http://schemas.microsoft.com/office/drawing/2014/main" val="2488311136"/>
                    </a:ext>
                  </a:extLst>
                </a:gridCol>
                <a:gridCol w="966438">
                  <a:extLst>
                    <a:ext uri="{9D8B030D-6E8A-4147-A177-3AD203B41FA5}">
                      <a16:colId xmlns:a16="http://schemas.microsoft.com/office/drawing/2014/main" val="1655231594"/>
                    </a:ext>
                  </a:extLst>
                </a:gridCol>
                <a:gridCol w="1040780">
                  <a:extLst>
                    <a:ext uri="{9D8B030D-6E8A-4147-A177-3AD203B41FA5}">
                      <a16:colId xmlns:a16="http://schemas.microsoft.com/office/drawing/2014/main" val="2888939171"/>
                    </a:ext>
                  </a:extLst>
                </a:gridCol>
                <a:gridCol w="817756">
                  <a:extLst>
                    <a:ext uri="{9D8B030D-6E8A-4147-A177-3AD203B41FA5}">
                      <a16:colId xmlns:a16="http://schemas.microsoft.com/office/drawing/2014/main" val="2155081722"/>
                    </a:ext>
                  </a:extLst>
                </a:gridCol>
                <a:gridCol w="585439">
                  <a:extLst>
                    <a:ext uri="{9D8B030D-6E8A-4147-A177-3AD203B41FA5}">
                      <a16:colId xmlns:a16="http://schemas.microsoft.com/office/drawing/2014/main" val="170834656"/>
                    </a:ext>
                  </a:extLst>
                </a:gridCol>
                <a:gridCol w="585439">
                  <a:extLst>
                    <a:ext uri="{9D8B030D-6E8A-4147-A177-3AD203B41FA5}">
                      <a16:colId xmlns:a16="http://schemas.microsoft.com/office/drawing/2014/main" val="3069882444"/>
                    </a:ext>
                  </a:extLst>
                </a:gridCol>
                <a:gridCol w="585439">
                  <a:extLst>
                    <a:ext uri="{9D8B030D-6E8A-4147-A177-3AD203B41FA5}">
                      <a16:colId xmlns:a16="http://schemas.microsoft.com/office/drawing/2014/main" val="3449215255"/>
                    </a:ext>
                  </a:extLst>
                </a:gridCol>
                <a:gridCol w="585439">
                  <a:extLst>
                    <a:ext uri="{9D8B030D-6E8A-4147-A177-3AD203B41FA5}">
                      <a16:colId xmlns:a16="http://schemas.microsoft.com/office/drawing/2014/main" val="3148258959"/>
                    </a:ext>
                  </a:extLst>
                </a:gridCol>
              </a:tblGrid>
              <a:tr h="388949"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Date</a:t>
                      </a:r>
                      <a:endParaRPr lang="zh-TW" altLang="zh-TW" sz="10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663" marR="5663" marT="5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HP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5663" marR="5663" marT="5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Dept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5663" marR="5663" marT="5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Products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5663" marR="5663" marT="5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  </a:t>
                      </a:r>
                      <a:r>
                        <a:rPr lang="en-US" altLang="zh-TW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Type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5663" marR="5663" marT="5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Speaker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5663" marR="5663" marT="5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Expense</a:t>
                      </a:r>
                    </a:p>
                    <a:p>
                      <a:pPr algn="ctr" rtl="0" fontAlgn="ctr"/>
                      <a:r>
                        <a:rPr lang="zh-TW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（</a:t>
                      </a:r>
                      <a:r>
                        <a:rPr lang="en-US" altLang="zh-TW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NTD)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5663" marR="5663" marT="5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i="0" u="none" strike="noStrike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Customers</a:t>
                      </a:r>
                      <a:endParaRPr lang="zh-TW" altLang="en-US" sz="1000" b="1" i="0" u="none" strike="noStrike">
                        <a:solidFill>
                          <a:srgbClr val="FFFFFF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5663" marR="5663" marT="5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Purpose</a:t>
                      </a:r>
                      <a:r>
                        <a:rPr lang="zh-TW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 （</a:t>
                      </a:r>
                      <a:r>
                        <a:rPr lang="en-US" altLang="zh-TW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KPI):</a:t>
                      </a:r>
                      <a:r>
                        <a:rPr lang="zh-TW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預估</a:t>
                      </a:r>
                      <a:r>
                        <a:rPr lang="en-US" altLang="zh-TW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3</a:t>
                      </a:r>
                      <a:r>
                        <a:rPr lang="zh-TW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個月的達成業績（</a:t>
                      </a:r>
                      <a:r>
                        <a:rPr lang="en-US" altLang="zh-TW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Qty</a:t>
                      </a:r>
                      <a:r>
                        <a:rPr lang="zh-TW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與費審會申請單上相同</a:t>
                      </a:r>
                      <a:r>
                        <a:rPr lang="en-US" altLang="zh-TW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)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5663" marR="5663" marT="5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zh-TW" altLang="en-US" sz="1000" b="1" i="0" u="none" strike="noStrike">
                        <a:solidFill>
                          <a:srgbClr val="FFFFFF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5663" marR="5663" marT="5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zh-TW" altLang="en-US" sz="1000" b="1" i="0" u="none" strike="noStrike">
                        <a:solidFill>
                          <a:srgbClr val="FFFFFF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5663" marR="5663" marT="5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zh-TW" altLang="en-US" sz="1000" b="1" i="0" u="none" strike="noStrike">
                        <a:solidFill>
                          <a:srgbClr val="FFFFFF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5663" marR="5663" marT="5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267354"/>
                  </a:ext>
                </a:extLst>
              </a:tr>
              <a:tr h="23620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200" b="0" i="0" u="none" strike="noStrike" kern="1200">
                        <a:solidFill>
                          <a:srgbClr val="FF0000"/>
                        </a:solidFill>
                        <a:effectLst/>
                        <a:latin typeface="+mn-lt"/>
                        <a:ea typeface="微軟正黑體" pitchFamily="34" charset="-120"/>
                        <a:cs typeface="+mn-cs"/>
                      </a:endParaRPr>
                    </a:p>
                  </a:txBody>
                  <a:tcPr marL="5663" marR="5663" marT="5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第</a:t>
                      </a:r>
                      <a:r>
                        <a:rPr lang="en-US" altLang="zh-TW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1</a:t>
                      </a:r>
                      <a:r>
                        <a:rPr lang="zh-TW" altLang="en-US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個月</a:t>
                      </a:r>
                    </a:p>
                  </a:txBody>
                  <a:tcPr marL="5663" marR="5663" marT="5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第</a:t>
                      </a:r>
                      <a:r>
                        <a:rPr lang="en-US" altLang="zh-TW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2</a:t>
                      </a:r>
                      <a:r>
                        <a:rPr lang="zh-TW" altLang="en-US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個月</a:t>
                      </a:r>
                    </a:p>
                  </a:txBody>
                  <a:tcPr marL="5663" marR="5663" marT="5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第</a:t>
                      </a:r>
                      <a:r>
                        <a:rPr lang="en-US" altLang="zh-TW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3</a:t>
                      </a:r>
                      <a:r>
                        <a:rPr lang="zh-TW" altLang="en-US" sz="1000" b="0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個月</a:t>
                      </a:r>
                    </a:p>
                  </a:txBody>
                  <a:tcPr marL="5663" marR="5663" marT="5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207205"/>
                  </a:ext>
                </a:extLst>
              </a:tr>
              <a:tr h="305483"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3/27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latin typeface="+mn-lt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>
                          <a:solidFill>
                            <a:schemeClr val="tx1"/>
                          </a:solidFill>
                        </a:rPr>
                        <a:t>新光</a:t>
                      </a: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TW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OBS</a:t>
                      </a:r>
                      <a:endParaRPr lang="zh-TW" alt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itchFamily="34" charset="-120"/>
                        <a:cs typeface="+mn-cs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TW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YSL/ESV</a:t>
                      </a: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itchFamily="34" charset="-120"/>
                          <a:cs typeface="+mn-cs"/>
                        </a:rPr>
                        <a:t>RTD</a:t>
                      </a: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陳立珊</a:t>
                      </a: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微軟正黑體" panose="020B0604030504040204" pitchFamily="34" charset="-120"/>
                          <a:cs typeface="+mn-cs"/>
                        </a:rPr>
                        <a:t>58,000</a:t>
                      </a:r>
                      <a:endParaRPr kumimoji="0" lang="zh-TW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微軟正黑體" panose="020B0604030504040204" pitchFamily="34" charset="-120"/>
                          <a:cs typeface="+mn-cs"/>
                        </a:rPr>
                        <a:t>約</a:t>
                      </a: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微軟正黑體" panose="020B0604030504040204" pitchFamily="34" charset="-120"/>
                          <a:cs typeface="+mn-cs"/>
                        </a:rPr>
                        <a:t>27</a:t>
                      </a:r>
                      <a:r>
                        <a:rPr kumimoji="0" lang="zh-TW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微軟正黑體" panose="020B0604030504040204" pitchFamily="34" charset="-120"/>
                          <a:cs typeface="+mn-cs"/>
                        </a:rPr>
                        <a:t>人</a:t>
                      </a: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/>
                        <a:t>預估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140</a:t>
                      </a:r>
                      <a:endParaRPr kumimoji="0" lang="zh-TW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3600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280</a:t>
                      </a:r>
                      <a:endParaRPr kumimoji="0" lang="zh-TW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3600" marR="476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320</a:t>
                      </a:r>
                      <a:endParaRPr kumimoji="0" lang="zh-TW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664009"/>
                  </a:ext>
                </a:extLst>
              </a:tr>
              <a:tr h="305483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/>
                        <a:t>實際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itchFamily="34" charset="-120"/>
                          <a:cs typeface="Arial" panose="020B0604020202020204" pitchFamily="34" charset="0"/>
                        </a:rPr>
                        <a:t>840</a:t>
                      </a:r>
                      <a:endParaRPr lang="zh-TW" alt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軟正黑體" pitchFamily="34" charset="-120"/>
                        <a:cs typeface="Arial" panose="020B0604020202020204" pitchFamily="34" charset="0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itchFamily="34" charset="-120"/>
                          <a:cs typeface="Arial" panose="020B0604020202020204" pitchFamily="34" charset="0"/>
                        </a:rPr>
                        <a:t>840</a:t>
                      </a: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軟正黑體" pitchFamily="34" charset="-120"/>
                        <a:cs typeface="Arial" panose="020B0604020202020204" pitchFamily="34" charset="0"/>
                      </a:endParaRPr>
                    </a:p>
                  </a:txBody>
                  <a:tcPr marL="5663" marR="5663" marT="56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70465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07360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標題 1"/>
          <p:cNvSpPr>
            <a:spLocks noGrp="1"/>
          </p:cNvSpPr>
          <p:nvPr>
            <p:ph type="title"/>
          </p:nvPr>
        </p:nvSpPr>
        <p:spPr>
          <a:xfrm>
            <a:off x="323528" y="476672"/>
            <a:ext cx="7416800" cy="369887"/>
          </a:xfrm>
        </p:spPr>
        <p:txBody>
          <a:bodyPr>
            <a:normAutofit/>
          </a:bodyPr>
          <a:lstStyle/>
          <a:p>
            <a:r>
              <a:rPr lang="en-GB" altLang="zh-TW" sz="2000" b="1" i="1" u="sng" cap="all" dirty="0"/>
              <a:t>Key Business Issues and Strategies</a:t>
            </a:r>
            <a:r>
              <a:rPr lang="en-US" altLang="zh-TW" sz="2000" b="1" i="1" u="sng" cap="all" dirty="0"/>
              <a:t>(</a:t>
            </a:r>
            <a:r>
              <a:rPr lang="en-GB" altLang="zh-TW" sz="2000" b="1" i="1" u="sng" cap="all" dirty="0"/>
              <a:t>HRT) </a:t>
            </a:r>
            <a:r>
              <a:rPr lang="en-GB" altLang="zh-TW" sz="2000" b="1" cap="all" dirty="0"/>
              <a:t> </a:t>
            </a:r>
            <a:endParaRPr lang="zh-TW" altLang="zh-TW" sz="2000" b="1" cap="all" dirty="0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0A8685A5-BB6C-B7E2-1622-4A15A91261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9127428"/>
              </p:ext>
            </p:extLst>
          </p:nvPr>
        </p:nvGraphicFramePr>
        <p:xfrm>
          <a:off x="0" y="762000"/>
          <a:ext cx="9143998" cy="6426228"/>
        </p:xfrm>
        <a:graphic>
          <a:graphicData uri="http://schemas.openxmlformats.org/drawingml/2006/table">
            <a:tbl>
              <a:tblPr/>
              <a:tblGrid>
                <a:gridCol w="1165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4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5482">
                  <a:extLst>
                    <a:ext uri="{9D8B030D-6E8A-4147-A177-3AD203B41FA5}">
                      <a16:colId xmlns:a16="http://schemas.microsoft.com/office/drawing/2014/main" val="3622043960"/>
                    </a:ext>
                  </a:extLst>
                </a:gridCol>
                <a:gridCol w="46185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54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HP</a:t>
                      </a:r>
                      <a:endParaRPr kumimoji="0" lang="zh-TW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+mn-ea"/>
                        </a:rPr>
                        <a:t>Opportunity/Issue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+mn-ea"/>
                        </a:rPr>
                        <a:t>（機會點</a:t>
                      </a:r>
                      <a:r>
                        <a:rPr kumimoji="0" lang="en-US" altLang="zh-TW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+mn-ea"/>
                        </a:rPr>
                        <a:t>/</a:t>
                      </a:r>
                      <a:r>
                        <a:rPr kumimoji="0" lang="zh-TW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+mn-ea"/>
                        </a:rPr>
                        <a:t>問題點</a:t>
                      </a:r>
                      <a:r>
                        <a:rPr kumimoji="0" lang="en-US" altLang="zh-TW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+mn-ea"/>
                        </a:rPr>
                        <a:t>)</a:t>
                      </a:r>
                      <a:endParaRPr kumimoji="0" lang="zh-TW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charset="0"/>
                        <a:ea typeface="+mn-ea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Who</a:t>
                      </a:r>
                      <a:endParaRPr kumimoji="0" lang="zh-TW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Action plan</a:t>
                      </a:r>
                      <a:endParaRPr kumimoji="0" lang="zh-TW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6857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rgbClr val="090807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新光</a:t>
                      </a:r>
                      <a:endParaRPr lang="en-US" altLang="zh-TW" sz="1200" b="0" kern="1200" dirty="0">
                        <a:solidFill>
                          <a:srgbClr val="090807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rgbClr val="090807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慈濟</a:t>
                      </a:r>
                      <a:endParaRPr lang="en-US" altLang="zh-TW" sz="1200" b="0" kern="1200" dirty="0">
                        <a:solidFill>
                          <a:srgbClr val="090807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>
                          <a:solidFill>
                            <a:srgbClr val="090807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LMN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E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下雨潮濕患者易反覆性感染，不容易完全改善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E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rgbClr val="090807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新光</a:t>
                      </a:r>
                      <a:r>
                        <a:rPr lang="en-US" altLang="zh-TW" sz="1200" b="0" kern="1200" dirty="0">
                          <a:solidFill>
                            <a:srgbClr val="090807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:</a:t>
                      </a: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rgbClr val="090807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黃莉文、李偉浩</a:t>
                      </a:r>
                      <a:endParaRPr lang="en-US" altLang="zh-TW" sz="1200" b="0" kern="1200" dirty="0">
                        <a:solidFill>
                          <a:srgbClr val="090807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rgbClr val="090807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蔡育倫、楊怡芳</a:t>
                      </a:r>
                      <a:endParaRPr lang="en-US" altLang="zh-TW" sz="1200" b="0" kern="1200" dirty="0">
                        <a:solidFill>
                          <a:srgbClr val="090807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rgbClr val="090807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呂彥鋒</a:t>
                      </a:r>
                      <a:endParaRPr lang="en-US" altLang="zh-TW" sz="1200" b="0" kern="1200" dirty="0">
                        <a:solidFill>
                          <a:srgbClr val="090807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rgbClr val="090807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慈濟</a:t>
                      </a:r>
                      <a:r>
                        <a:rPr lang="en-US" altLang="zh-TW" sz="1200" b="0" kern="1200" dirty="0">
                          <a:solidFill>
                            <a:srgbClr val="090807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:</a:t>
                      </a: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rgbClr val="090807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曾倫娜、祝春紅</a:t>
                      </a:r>
                      <a:endParaRPr lang="en-US" altLang="zh-TW" sz="1200" b="0" kern="1200" dirty="0">
                        <a:solidFill>
                          <a:srgbClr val="090807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rgbClr val="090807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耕莘</a:t>
                      </a:r>
                      <a:r>
                        <a:rPr lang="en-US" altLang="zh-TW" sz="1200" b="0" kern="1200" dirty="0">
                          <a:solidFill>
                            <a:srgbClr val="090807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:</a:t>
                      </a:r>
                    </a:p>
                    <a:p>
                      <a:pPr marL="342900" marR="0" lvl="1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全部醫師</a:t>
                      </a:r>
                      <a:endParaRPr lang="en-US" altLang="zh-TW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200" b="0" kern="1200" dirty="0">
                        <a:solidFill>
                          <a:srgbClr val="090807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EEC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zh-TW" altLang="en-US" sz="1200" b="1" dirty="0"/>
                        <a:t>產品特性強調</a:t>
                      </a:r>
                      <a:endParaRPr lang="zh-TW" altLang="en-US" sz="1200" dirty="0"/>
                    </a:p>
                    <a:p>
                      <a:pPr marL="5143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dirty="0"/>
                        <a:t>軟膠囊快速溶解、</a:t>
                      </a:r>
                      <a:r>
                        <a:rPr lang="en-US" altLang="zh-TW" sz="1200" dirty="0"/>
                        <a:t>Lotion </a:t>
                      </a:r>
                      <a:r>
                        <a:rPr lang="zh-TW" altLang="en-US" sz="1200" dirty="0"/>
                        <a:t>高覆蓋率</a:t>
                      </a:r>
                    </a:p>
                    <a:p>
                      <a:pPr marL="5143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200" dirty="0"/>
                        <a:t>LMN </a:t>
                      </a:r>
                      <a:r>
                        <a:rPr lang="zh-TW" altLang="en-US" sz="1200" dirty="0"/>
                        <a:t>成分復發率低</a:t>
                      </a:r>
                    </a:p>
                    <a:p>
                      <a:pPr marL="5143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dirty="0"/>
                        <a:t>尖端設計提升患者順從性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zh-TW" altLang="en-US" sz="1200" b="1" dirty="0"/>
                        <a:t>臨床應用策略</a:t>
                      </a:r>
                      <a:endParaRPr lang="zh-TW" altLang="en-US" sz="1200" dirty="0"/>
                    </a:p>
                    <a:p>
                      <a:pPr marL="571500" lvl="1" indent="-22860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dirty="0"/>
                        <a:t>陰道塞劑有掉出風險 → 一次性足量開立</a:t>
                      </a:r>
                    </a:p>
                    <a:p>
                      <a:pPr marL="571500" lvl="1" indent="-228600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200" dirty="0"/>
                        <a:t>健保開立</a:t>
                      </a:r>
                      <a:r>
                        <a:rPr lang="en-US" altLang="zh-TW" sz="1200" dirty="0"/>
                        <a:t>6</a:t>
                      </a:r>
                      <a:r>
                        <a:rPr lang="zh-TW" altLang="en-US" sz="1200" dirty="0"/>
                        <a:t>顆，不會遭核刪</a:t>
                      </a:r>
                    </a:p>
                    <a:p>
                      <a:pPr marL="342900" lvl="1" indent="0">
                        <a:buFont typeface="Arial" panose="020B0604020202020204" pitchFamily="34" charset="0"/>
                        <a:buNone/>
                      </a:pPr>
                      <a:endParaRPr lang="zh-TW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4746810"/>
                  </a:ext>
                </a:extLst>
              </a:tr>
              <a:tr h="983714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新光</a:t>
                      </a:r>
                      <a:endParaRPr lang="en-US" altLang="zh-TW" sz="1200" b="0" kern="12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慈濟</a:t>
                      </a:r>
                      <a:endParaRPr lang="en-US" altLang="zh-TW" sz="1200" b="0" kern="12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YSL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E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solidFill>
                            <a:srgbClr val="FF0000"/>
                          </a:solidFill>
                        </a:rPr>
                        <a:t>經血量大、經期延長影響生活品質</a:t>
                      </a:r>
                      <a:endParaRPr lang="en-US" altLang="zh-TW" sz="1200" b="0" kern="12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E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新光</a:t>
                      </a:r>
                      <a:r>
                        <a:rPr lang="en-US" altLang="zh-TW" sz="1200" b="0" kern="12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:</a:t>
                      </a: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黃莉文、李偉浩</a:t>
                      </a:r>
                      <a:endParaRPr lang="en-US" altLang="zh-TW" sz="1200" b="0" kern="12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蔡育倫、楊怡芳</a:t>
                      </a:r>
                      <a:endParaRPr lang="en-US" altLang="zh-TW" sz="1200" b="0" kern="12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呂彥鋒</a:t>
                      </a:r>
                      <a:endParaRPr lang="en-US" altLang="zh-TW" sz="1200" b="0" kern="12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200" b="0" kern="12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E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solidFill>
                            <a:srgbClr val="FF0000"/>
                          </a:solidFill>
                        </a:rPr>
                        <a:t>口服 </a:t>
                      </a:r>
                      <a:r>
                        <a:rPr lang="en-US" altLang="zh-TW" sz="1200" dirty="0">
                          <a:solidFill>
                            <a:srgbClr val="FF0000"/>
                          </a:solidFill>
                        </a:rPr>
                        <a:t>GnRH antagonist</a:t>
                      </a:r>
                      <a:r>
                        <a:rPr lang="zh-TW" altLang="en-US" sz="1200" dirty="0">
                          <a:solidFill>
                            <a:srgbClr val="FF0000"/>
                          </a:solidFill>
                        </a:rPr>
                        <a:t>，直接抑制 </a:t>
                      </a:r>
                      <a:r>
                        <a:rPr lang="en-US" altLang="zh-TW" sz="1200" dirty="0">
                          <a:solidFill>
                            <a:srgbClr val="FF0000"/>
                          </a:solidFill>
                        </a:rPr>
                        <a:t>LH/FSH</a:t>
                      </a:r>
                    </a:p>
                    <a:p>
                      <a:r>
                        <a:rPr lang="zh-TW" altLang="en-US" sz="1200" dirty="0">
                          <a:solidFill>
                            <a:srgbClr val="FF0000"/>
                          </a:solidFill>
                        </a:rPr>
                        <a:t>起效快，可彈性調整劑量</a:t>
                      </a:r>
                    </a:p>
                    <a:p>
                      <a:r>
                        <a:rPr lang="zh-TW" altLang="en-US" sz="1200" dirty="0">
                          <a:solidFill>
                            <a:srgbClr val="FF0000"/>
                          </a:solidFill>
                        </a:rPr>
                        <a:t>兼顧疼痛控制與荷爾蒙平衡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solidFill>
                            <a:srgbClr val="FF0000"/>
                          </a:solidFill>
                        </a:rPr>
                        <a:t>避免反覆注射造成不適</a:t>
                      </a:r>
                      <a:endParaRPr lang="en-US" altLang="zh-TW" sz="1200" b="0" kern="12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63085"/>
                  </a:ext>
                </a:extLst>
              </a:tr>
              <a:tr h="983714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rgbClr val="090807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慈濟</a:t>
                      </a:r>
                      <a:endParaRPr lang="en-US" altLang="zh-TW" sz="1200" b="0" kern="1200" dirty="0">
                        <a:solidFill>
                          <a:srgbClr val="090807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rgbClr val="090807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新光</a:t>
                      </a:r>
                      <a:endParaRPr lang="en-US" altLang="zh-TW" sz="1200" b="0" kern="1200" dirty="0">
                        <a:solidFill>
                          <a:srgbClr val="090807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rgbClr val="090807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耕莘</a:t>
                      </a:r>
                      <a:endParaRPr lang="en-US" altLang="zh-TW" sz="1200" b="0" kern="1200" dirty="0">
                        <a:solidFill>
                          <a:srgbClr val="090807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>
                          <a:solidFill>
                            <a:srgbClr val="090807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ESV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E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1200" kern="1200" dirty="0">
                          <a:solidFill>
                            <a:schemeClr val="tx1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Opportunity</a:t>
                      </a:r>
                      <a:r>
                        <a:rPr lang="zh-TW" altLang="en-US" sz="1200" b="0" kern="1200" dirty="0">
                          <a:solidFill>
                            <a:srgbClr val="090807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：</a:t>
                      </a:r>
                      <a:endParaRPr lang="en-US" altLang="zh-TW" sz="1200" b="0" kern="1200" dirty="0">
                        <a:solidFill>
                          <a:srgbClr val="090807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>
                          <a:solidFill>
                            <a:srgbClr val="090807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PMS</a:t>
                      </a:r>
                      <a:r>
                        <a:rPr lang="zh-TW" altLang="en-US" sz="1200" b="0" kern="1200" dirty="0">
                          <a:solidFill>
                            <a:srgbClr val="090807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計畫</a:t>
                      </a:r>
                      <a:endParaRPr lang="zh-TW" altLang="en-US" sz="12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E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rgbClr val="090807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所有醫師</a:t>
                      </a:r>
                      <a:endParaRPr lang="en-US" altLang="zh-TW" sz="1200" b="0" kern="1200" dirty="0">
                        <a:solidFill>
                          <a:srgbClr val="090807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EEC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向醫師提出</a:t>
                      </a:r>
                      <a:r>
                        <a:rPr lang="en-US" altLang="zh-TW" sz="12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ESV</a:t>
                      </a: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有效改善更年期生殖泌尿症候群（</a:t>
                      </a:r>
                      <a:r>
                        <a:rPr lang="en-US" altLang="zh-TW" sz="12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GSM)</a:t>
                      </a: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局部狀況，並提出收案計畫，推動藥品上量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b="0" kern="12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GSM</a:t>
                      </a:r>
                      <a:r>
                        <a:rPr lang="zh-TW" altLang="en-US" sz="1200" b="0" kern="12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較為嚴重病患，以提出前期使用兩顆可以加速病患病灶改善。</a:t>
                      </a:r>
                      <a:endParaRPr lang="en-US" altLang="zh-TW" sz="1200" b="0" kern="12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3598907"/>
                  </a:ext>
                </a:extLst>
              </a:tr>
              <a:tr h="1664388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rgbClr val="090807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慈濟</a:t>
                      </a:r>
                      <a:endParaRPr lang="en-US" altLang="zh-TW" sz="1200" b="0" kern="1200" dirty="0">
                        <a:solidFill>
                          <a:srgbClr val="090807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E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1200" kern="1200" dirty="0">
                          <a:solidFill>
                            <a:schemeClr val="tx1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Opportunity</a:t>
                      </a:r>
                      <a:r>
                        <a:rPr lang="zh-TW" altLang="en-US" sz="1200" b="0" kern="1200" dirty="0">
                          <a:solidFill>
                            <a:srgbClr val="090807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：</a:t>
                      </a:r>
                      <a:endParaRPr lang="en-US" altLang="zh-TW" sz="1200" b="0" kern="1200" dirty="0">
                        <a:solidFill>
                          <a:srgbClr val="090807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陳國瑚部長計劃開啟陰道雷射並結合 </a:t>
                      </a:r>
                      <a:r>
                        <a:rPr lang="en" altLang="zh-TW" sz="12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ESV </a:t>
                      </a:r>
                      <a:r>
                        <a:rPr lang="zh-TW" altLang="en-US" sz="12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進行研究收案，聚焦於合併使用的效益分析。</a:t>
                      </a:r>
                      <a:endParaRPr lang="en" altLang="zh-TW" sz="1200" kern="1200" dirty="0">
                        <a:solidFill>
                          <a:schemeClr val="tx1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E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rgbClr val="090807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陳國瑚</a:t>
                      </a:r>
                      <a:endParaRPr lang="en-US" altLang="zh-TW" sz="1200" b="0" kern="1200" dirty="0">
                        <a:solidFill>
                          <a:srgbClr val="090807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EEC"/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228600">
                        <a:buFont typeface="+mj-lt"/>
                        <a:buAutoNum type="arabicPeriod"/>
                      </a:pPr>
                      <a:r>
                        <a:rPr lang="zh-TW" altLang="en-US" sz="12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瞭解研究設計與收案需求，評估公司是否可在數據、研究資源或病患轉介方面提供協助。</a:t>
                      </a:r>
                    </a:p>
                    <a:p>
                      <a:pPr marL="228600" lvl="0" indent="-228600">
                        <a:buFont typeface="+mj-lt"/>
                        <a:buAutoNum type="arabicPeriod"/>
                      </a:pPr>
                      <a:r>
                        <a:rPr lang="zh-TW" altLang="en-US" sz="12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主動表達公司對該研究方向的關注與支持，探詢是否需要學術資料、研究資金或後勤支援。</a:t>
                      </a:r>
                    </a:p>
                    <a:p>
                      <a:pPr marL="228600" lvl="0" indent="-228600">
                        <a:buFont typeface="+mj-lt"/>
                        <a:buAutoNum type="arabicPeriod"/>
                      </a:pPr>
                      <a:r>
                        <a:rPr lang="zh-TW" altLang="en-US" sz="12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與</a:t>
                      </a:r>
                      <a:r>
                        <a:rPr lang="en" altLang="zh-TW" sz="12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PM</a:t>
                      </a:r>
                      <a:r>
                        <a:rPr lang="zh-TW" altLang="en-US" sz="12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討論是否能將此研究納入</a:t>
                      </a:r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策略性合作計畫</a:t>
                      </a:r>
                      <a:r>
                        <a:rPr lang="zh-TW" altLang="en-US" sz="12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，以提升產品學術價值與臨床應用證據。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98985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67867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7504" y="260648"/>
            <a:ext cx="7886700" cy="903634"/>
          </a:xfrm>
        </p:spPr>
        <p:txBody>
          <a:bodyPr>
            <a:noAutofit/>
          </a:bodyPr>
          <a:lstStyle/>
          <a:p>
            <a:r>
              <a:rPr lang="zh-TW" altLang="en-US" sz="2400" b="1" cap="all" dirty="0"/>
              <a:t>三</a:t>
            </a:r>
            <a:r>
              <a:rPr lang="zh-TW" altLang="zh-TW" sz="2400" b="1" cap="all" dirty="0"/>
              <a:t>、</a:t>
            </a:r>
            <a:r>
              <a:rPr lang="en-GB" altLang="zh-TW" sz="2400" b="1" i="1" u="sng" cap="all" dirty="0"/>
              <a:t>Business Environment / Market intelligence</a:t>
            </a:r>
            <a:br>
              <a:rPr lang="en-GB" altLang="zh-TW" sz="2400" b="1" i="1" u="sng" cap="all" dirty="0"/>
            </a:br>
            <a:r>
              <a:rPr lang="en-GB" altLang="zh-TW" sz="2400" b="1" i="1" cap="all" dirty="0"/>
              <a:t> </a:t>
            </a:r>
            <a:r>
              <a:rPr lang="zh-TW" altLang="en-US" sz="2400" b="1" i="1" cap="all" dirty="0"/>
              <a:t>（</a:t>
            </a:r>
            <a:r>
              <a:rPr lang="zh-TW" altLang="zh-TW" sz="2400" b="1" cap="all" dirty="0"/>
              <a:t>人事異動、進藥條件改變</a:t>
            </a:r>
            <a:r>
              <a:rPr lang="fr-FR" altLang="zh-TW" sz="2400" b="1" cap="all" dirty="0"/>
              <a:t>,…………</a:t>
            </a:r>
            <a:r>
              <a:rPr lang="en-GB" altLang="zh-TW" sz="2400" b="1" cap="all" dirty="0"/>
              <a:t>)</a:t>
            </a:r>
            <a:endParaRPr lang="zh-TW" altLang="en-US" sz="2400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4F4255B6-8C4C-46B9-A076-9F5D28187C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253331"/>
            <a:ext cx="7886700" cy="4351338"/>
          </a:xfrm>
        </p:spPr>
        <p:txBody>
          <a:bodyPr>
            <a:normAutofit/>
          </a:bodyPr>
          <a:lstStyle/>
          <a:p>
            <a:pPr marL="287100" lvl="1" indent="-285750">
              <a:lnSpc>
                <a:spcPct val="100000"/>
              </a:lnSpc>
              <a:spcBef>
                <a:spcPts val="750"/>
              </a:spcBef>
              <a:buSzPct val="100000"/>
              <a:defRPr/>
            </a:pPr>
            <a:endParaRPr lang="zh-TW" altLang="en-US" sz="180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7100" lvl="1" indent="-285750">
              <a:lnSpc>
                <a:spcPct val="100000"/>
              </a:lnSpc>
              <a:spcBef>
                <a:spcPts val="750"/>
              </a:spcBef>
              <a:buSzPct val="100000"/>
              <a:defRPr/>
            </a:pPr>
            <a:endParaRPr lang="en-US" altLang="zh-TW" sz="1800" b="1" i="0" u="none" strike="noStrike" dirty="0">
              <a:solidFill>
                <a:srgbClr val="00000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008268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-36512" y="188640"/>
            <a:ext cx="7886700" cy="687610"/>
          </a:xfrm>
        </p:spPr>
        <p:txBody>
          <a:bodyPr>
            <a:noAutofit/>
          </a:bodyPr>
          <a:lstStyle/>
          <a:p>
            <a:r>
              <a:rPr lang="en-US" altLang="zh-TW" sz="2400" b="1" i="1" cap="all" dirty="0"/>
              <a:t>VI. </a:t>
            </a:r>
            <a:r>
              <a:rPr lang="en-GB" altLang="zh-TW" sz="2400" b="1" i="1" u="sng" cap="all" dirty="0"/>
              <a:t>Competitors intelligence</a:t>
            </a:r>
            <a:r>
              <a:rPr lang="zh-TW" altLang="en-US" sz="2400" b="1" i="1" u="sng" cap="all" dirty="0"/>
              <a:t>（市場訊息</a:t>
            </a:r>
            <a:r>
              <a:rPr lang="en-US" altLang="zh-TW" sz="2400" b="1" i="1" u="sng" cap="all" dirty="0"/>
              <a:t>/</a:t>
            </a:r>
            <a:r>
              <a:rPr lang="zh-TW" altLang="en-US" sz="2400" b="1" i="1" u="sng" cap="all" dirty="0"/>
              <a:t>競爭對手活動</a:t>
            </a:r>
            <a:r>
              <a:rPr lang="en-US" altLang="zh-TW" sz="2400" b="1" i="1" u="sng" cap="all" dirty="0"/>
              <a:t>)</a:t>
            </a:r>
            <a:endParaRPr lang="zh-TW" altLang="en-US" sz="2400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738B04E-1FDC-4221-A8CE-1025249561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3664433"/>
              </p:ext>
            </p:extLst>
          </p:nvPr>
        </p:nvGraphicFramePr>
        <p:xfrm>
          <a:off x="0" y="876250"/>
          <a:ext cx="9144000" cy="3635688"/>
        </p:xfrm>
        <a:graphic>
          <a:graphicData uri="http://schemas.openxmlformats.org/drawingml/2006/table">
            <a:tbl>
              <a:tblPr/>
              <a:tblGrid>
                <a:gridCol w="449580">
                  <a:extLst>
                    <a:ext uri="{9D8B030D-6E8A-4147-A177-3AD203B41FA5}">
                      <a16:colId xmlns:a16="http://schemas.microsoft.com/office/drawing/2014/main" val="3774285252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982560005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929984555"/>
                    </a:ext>
                  </a:extLst>
                </a:gridCol>
                <a:gridCol w="906780">
                  <a:extLst>
                    <a:ext uri="{9D8B030D-6E8A-4147-A177-3AD203B41FA5}">
                      <a16:colId xmlns:a16="http://schemas.microsoft.com/office/drawing/2014/main" val="2730945744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3019280400"/>
                    </a:ext>
                  </a:extLst>
                </a:gridCol>
              </a:tblGrid>
              <a:tr h="420215"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115</a:t>
                      </a: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年</a:t>
                      </a: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3</a:t>
                      </a: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月醫院組各區市場訊息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2383840"/>
                  </a:ext>
                </a:extLst>
              </a:tr>
              <a:tr h="480245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團隊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業代姓名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醫院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訊息類別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內容說明（請簡述是</a:t>
                      </a: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-</a:t>
                      </a: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機會</a:t>
                      </a: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/</a:t>
                      </a: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威脅</a:t>
                      </a: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/</a:t>
                      </a: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危機</a:t>
                      </a: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/</a:t>
                      </a: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無影響</a:t>
                      </a: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6473010"/>
                  </a:ext>
                </a:extLst>
              </a:tr>
              <a:tr h="6838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HPB2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George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慈濟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競爭者活動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IPSEN diphereline </a:t>
                      </a: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與原有產品拆分，產品業代換人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653867"/>
                  </a:ext>
                </a:extLst>
              </a:tr>
              <a:tr h="6838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HPB2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George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新光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競爭者活動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李維醫師與新光何鎮宇醫師為住院醫師時期舊識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1287245"/>
                  </a:ext>
                </a:extLst>
              </a:tr>
              <a:tr h="6838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HPB2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George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新光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競爭者活動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Visanne</a:t>
                      </a: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四月舉辦專家會議，討論</a:t>
                      </a:r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YSL</a:t>
                      </a: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對市場衝擊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4282724"/>
                  </a:ext>
                </a:extLst>
              </a:tr>
              <a:tr h="6838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HPB2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George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耕莘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競爭者活動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ZOLADEX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沒有經費可以舉辦活動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7350780"/>
                  </a:ext>
                </a:extLst>
              </a:tr>
            </a:tbl>
          </a:graphicData>
        </a:graphic>
      </p:graphicFrame>
      <p:sp>
        <p:nvSpPr>
          <p:cNvPr id="2" name="文字方塊 1">
            <a:extLst>
              <a:ext uri="{FF2B5EF4-FFF2-40B4-BE49-F238E27FC236}">
                <a16:creationId xmlns:a16="http://schemas.microsoft.com/office/drawing/2014/main" id="{4C6DA247-1C5B-BBC0-4636-FCECCA5FC700}"/>
              </a:ext>
            </a:extLst>
          </p:cNvPr>
          <p:cNvSpPr txBox="1"/>
          <p:nvPr/>
        </p:nvSpPr>
        <p:spPr>
          <a:xfrm>
            <a:off x="8710367" y="633481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854608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標題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022609"/>
          </a:xfrm>
        </p:spPr>
        <p:txBody>
          <a:bodyPr>
            <a:normAutofit/>
          </a:bodyPr>
          <a:lstStyle/>
          <a:p>
            <a:pPr algn="ctr"/>
            <a:r>
              <a:rPr lang="en-US" altLang="zh-TW" sz="2800">
                <a:ea typeface="新細明體" charset="-120"/>
              </a:rPr>
              <a:t>Need support from MKT</a:t>
            </a:r>
            <a:endParaRPr lang="zh-TW" altLang="en-US" sz="2800">
              <a:ea typeface="新細明體" charset="-120"/>
            </a:endParaRPr>
          </a:p>
        </p:txBody>
      </p:sp>
      <p:graphicFrame>
        <p:nvGraphicFramePr>
          <p:cNvPr id="8" name="內容版面配置區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5573726"/>
              </p:ext>
            </p:extLst>
          </p:nvPr>
        </p:nvGraphicFramePr>
        <p:xfrm>
          <a:off x="0" y="1124744"/>
          <a:ext cx="9144000" cy="33374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3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72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17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54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>
                          <a:solidFill>
                            <a:schemeClr val="tx1"/>
                          </a:solidFill>
                        </a:rPr>
                        <a:t>Product</a:t>
                      </a:r>
                      <a:endParaRPr lang="zh-TW" altLang="en-US" sz="20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>
                          <a:solidFill>
                            <a:schemeClr val="tx1"/>
                          </a:solidFill>
                        </a:rPr>
                        <a:t>Issue</a:t>
                      </a:r>
                      <a:endParaRPr lang="zh-TW" altLang="en-US" sz="20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>
                          <a:solidFill>
                            <a:schemeClr val="tx1"/>
                          </a:solidFill>
                        </a:rPr>
                        <a:t>Suggestion</a:t>
                      </a:r>
                      <a:endParaRPr lang="zh-TW" altLang="en-US" sz="20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>
                          <a:solidFill>
                            <a:schemeClr val="tx1"/>
                          </a:solidFill>
                        </a:rPr>
                        <a:t>Remark</a:t>
                      </a:r>
                      <a:endParaRPr lang="zh-TW" altLang="en-US" sz="20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5977">
                <a:tc>
                  <a:txBody>
                    <a:bodyPr/>
                    <a:lstStyle/>
                    <a:p>
                      <a:pPr algn="ctr"/>
                      <a:endParaRPr lang="en-US" altLang="zh-TW" sz="1400" b="0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zh-TW" altLang="en-US" sz="1400" b="0" dirty="0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b="0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85977">
                <a:tc>
                  <a:txBody>
                    <a:bodyPr/>
                    <a:lstStyle/>
                    <a:p>
                      <a:pPr algn="ctr"/>
                      <a:endParaRPr lang="en-US" altLang="zh-TW" sz="1800" b="0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sz="1800" b="0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800" b="0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7539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12156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4"/>
          <p:cNvSpPr>
            <a:spLocks noGrp="1"/>
          </p:cNvSpPr>
          <p:nvPr>
            <p:ph type="ctrTitle" idx="4294967295"/>
          </p:nvPr>
        </p:nvSpPr>
        <p:spPr>
          <a:xfrm>
            <a:off x="2483768" y="2348880"/>
            <a:ext cx="4002088" cy="731837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TW" sz="4800">
                <a:solidFill>
                  <a:srgbClr val="0075BB"/>
                </a:solidFill>
                <a:ea typeface="新細明體" panose="02020500000000000000" pitchFamily="18" charset="-120"/>
              </a:rPr>
              <a:t>Thank You</a:t>
            </a:r>
            <a:endParaRPr lang="zh-TW" altLang="en-US" sz="4800">
              <a:solidFill>
                <a:srgbClr val="0075BB"/>
              </a:solidFill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538955"/>
      </p:ext>
    </p:extLst>
  </p:cSld>
  <p:clrMapOvr>
    <a:masterClrMapping/>
  </p:clrMapOvr>
</p:sld>
</file>

<file path=ppt/theme/theme1.xml><?xml version="1.0" encoding="utf-8"?>
<a:theme xmlns:a="http://schemas.openxmlformats.org/drawingml/2006/main" name="泌尿道基礎生理 20160406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呼吸道基礎篇</Template>
  <TotalTime>8967</TotalTime>
  <Words>3739</Words>
  <Application>Microsoft Office PowerPoint</Application>
  <PresentationFormat>如螢幕大小 (4:3)</PresentationFormat>
  <Paragraphs>1850</Paragraphs>
  <Slides>19</Slides>
  <Notes>19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9" baseType="lpstr">
      <vt:lpstr>Arial Unicode MS</vt:lpstr>
      <vt:lpstr>var( --e-global-typography-primary-font-family )</vt:lpstr>
      <vt:lpstr>微軟正黑體</vt:lpstr>
      <vt:lpstr>微軟正黑體</vt:lpstr>
      <vt:lpstr>Microsoft JhengHei Light</vt:lpstr>
      <vt:lpstr>新細明體</vt:lpstr>
      <vt:lpstr>Arial</vt:lpstr>
      <vt:lpstr>Calibri</vt:lpstr>
      <vt:lpstr>Verdana</vt:lpstr>
      <vt:lpstr>泌尿道基礎生理 20160406</vt:lpstr>
      <vt:lpstr>PowerPoint 簡報</vt:lpstr>
      <vt:lpstr>I. Commentary on Sales Performance by PSR </vt:lpstr>
      <vt:lpstr>I. Commentary on Sales Performance by PSR（Forecast) </vt:lpstr>
      <vt:lpstr>PowerPoint 簡報</vt:lpstr>
      <vt:lpstr>PowerPoint 簡報</vt:lpstr>
      <vt:lpstr>PowerPoint 簡報</vt:lpstr>
      <vt:lpstr>PowerPoint 簡報</vt:lpstr>
      <vt:lpstr>Key Business Issues and Strategies（URO)  </vt:lpstr>
      <vt:lpstr>Key Business Issues and Strategies（URO)  </vt:lpstr>
      <vt:lpstr>Key Business Issues and Strategies（URO)  </vt:lpstr>
      <vt:lpstr>PowerPoint 簡報</vt:lpstr>
      <vt:lpstr>PowerPoint 簡報</vt:lpstr>
      <vt:lpstr>PowerPoint 簡報</vt:lpstr>
      <vt:lpstr>PowerPoint 簡報</vt:lpstr>
      <vt:lpstr>Key Business Issues and Strategies(HRT)  </vt:lpstr>
      <vt:lpstr>三、Business Environment / Market intelligence  （人事異動、進藥條件改變,…………)</vt:lpstr>
      <vt:lpstr>VI. Competitors intelligence（市場訊息/競爭對手活動)</vt:lpstr>
      <vt:lpstr>Need support from MKT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Selling Skills</dc:title>
  <dc:creator>Hank Tseng</dc:creator>
  <cp:lastModifiedBy>FNU LNU</cp:lastModifiedBy>
  <cp:revision>57</cp:revision>
  <dcterms:created xsi:type="dcterms:W3CDTF">2015-03-13T01:58:46Z</dcterms:created>
  <dcterms:modified xsi:type="dcterms:W3CDTF">2026-05-01T16:23:59Z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2025-07-29T14:14:42Z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aaa579bb-e3ec-4f47-8826-51e11b607d7f</vt:lpwstr>
  </property>
  <property fmtid="{D5CDD505-2E9C-101B-9397-08002B2CF9AE}" pid="7" name="MSIP_Label_defa4170-0d19-0005-0004-bc88714345d2_ActionId">
    <vt:lpwstr>26bfac1b-f13e-49e8-a9ef-a9a75f28baff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